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6.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13A"/>
                </a:solidFill>
                <a:latin typeface="Calibri"/>
              </a:defRPr>
            </a:pPr>
            <a:r>
              <a:rPr sz="1400" b="0" i="0" u="none" strike="noStrike">
                <a:solidFill>
                  <a:srgbClr val="10213A"/>
                </a:solidFill>
                <a:latin typeface="Calibri"/>
              </a:rPr>
              <a:t>Class balance</a:t>
            </a:r>
          </a:p>
        </c:rich>
      </c:tx>
      <c:layout/>
      <c:overlay val="0"/>
    </c:title>
    <c:autoTitleDeleted val="0"/>
    <c:plotArea>
      <c:layout/>
      <c:pieChart>
        <c:varyColors val="1"/>
        <c:ser>
          <c:idx val="0"/>
          <c:order val="0"/>
          <c:tx>
            <c:strRef>
              <c:f>Sheet1!$B$1</c:f>
              <c:strCache>
                <c:ptCount val="1"/>
                <c:pt idx="0">
                  <c:v>Class</c:v>
                </c:pt>
              </c:strCache>
            </c:strRef>
          </c:tx>
          <c:spPr>
            <a:solidFill>
              <a:schemeClr val="accent1"/>
            </a:solidFill>
            <a:ln w="9525" cap="flat">
              <a:solidFill>
                <a:srgbClr val="F9F9F9"/>
              </a:solidFill>
              <a:prstDash val="solid"/>
              <a:round/>
            </a:ln>
            <a:effectLst/>
          </c:spPr>
          <c:dPt>
            <c:idx val="0"/>
            <c:bubble3D val="0"/>
            <c:spPr>
              <a:solidFill>
                <a:srgbClr val="5B8FB0"/>
              </a:solidFill>
              <a:effectLst/>
            </c:spPr>
          </c:dPt>
          <c:dPt>
            <c:idx val="1"/>
            <c:bubble3D val="0"/>
            <c:spPr>
              <a:solidFill>
                <a:srgbClr val="C0463C"/>
              </a:solidFill>
              <a:effectLst/>
            </c:spPr>
          </c:dPt>
          <c:dLbls>
            <c:dLbl>
              <c:idx val="0"/>
              <c:numFmt formatCode="0%" sourceLinked="0"/>
              <c:spPr/>
              <c:txPr>
                <a:bodyPr/>
                <a:lstStyle/>
                <a:p>
                  <a:pPr>
                    <a:defRPr sz="13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3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Legitimate</c:v>
                </c:pt>
                <c:pt idx="1">
                  <c:v>Phishing</c:v>
                </c:pt>
              </c:strCache>
            </c:strRef>
          </c:cat>
          <c:val>
            <c:numRef>
              <c:f>Sheet1!$B$2:$B$3</c:f>
              <c:numCache>
                <c:ptCount val="2"/>
                <c:pt idx="0">
                  <c:v>6157</c:v>
                </c:pt>
                <c:pt idx="1">
                  <c:v>4898</c:v>
                </c:pt>
              </c:numCache>
            </c:numRef>
          </c:val>
        </c:ser>
        <c:firstSliceAng val="0"/>
      </c:pieChart>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13A"/>
                </a:solidFill>
                <a:latin typeface="Calibri"/>
              </a:defRPr>
            </a:pPr>
            <a:r>
              <a:rPr sz="1400" b="0" i="0" u="none" strike="noStrike">
                <a:solidFill>
                  <a:srgbClr val="10213A"/>
                </a:solidFill>
                <a:latin typeface="Calibri"/>
              </a:rPr>
              <a:t>Top 10 indicators by mutual information</a:t>
            </a:r>
          </a:p>
        </c:rich>
      </c:tx>
      <c:layout/>
      <c:overlay val="0"/>
    </c:title>
    <c:autoTitleDeleted val="0"/>
    <c:plotArea>
      <c:layout/>
      <c:barChart>
        <c:barDir val="bar"/>
        <c:grouping val="clustered"/>
        <c:varyColors val="0"/>
        <c:ser>
          <c:idx val="0"/>
          <c:order val="0"/>
          <c:tx>
            <c:strRef>
              <c:f>Sheet1!$B$1</c:f>
              <c:strCache>
                <c:ptCount val="1"/>
                <c:pt idx="0">
                  <c:v>Mutual information</c:v>
                </c:pt>
              </c:strCache>
            </c:strRef>
          </c:tx>
          <c:spPr>
            <a:solidFill>
              <a:srgbClr val="0F8480"/>
            </a:solidFill>
            <a:effectLst/>
          </c:spPr>
          <c:invertIfNegative val="0"/>
          <c:dLbls>
            <c:numFmt formatCode="0.00" sourceLinked="0"/>
            <c:txPr>
              <a:bodyPr/>
              <a:lstStyle/>
              <a:p>
                <a:pPr>
                  <a:defRPr b="0" i="0" strike="noStrike" sz="1000" u="none">
                    <a:solidFill>
                      <a:srgbClr val="1B2733"/>
                    </a:solidFill>
                    <a:latin typeface="Arial"/>
                  </a:defRPr>
                </a:pPr>
              </a:p>
            </c:txPr>
            <c:showLegendKey val="0"/>
            <c:showVal val="1"/>
            <c:showCatName val="0"/>
            <c:showSerName val="0"/>
            <c:showPercent val="0"/>
            <c:showBubbleSize val="0"/>
            <c:showLeaderLines val="0"/>
          </c:dLbls>
          <c:cat>
            <c:multiLvlStrRef>
              <c:f>Sheet1!$A$2:$A$11</c:f>
              <c:multiLvlStrCache>
                <c:ptCount val="10"/>
                <c:lvl>
                  <c:pt idx="0">
                    <c:v>age_of_domain</c:v>
                  </c:pt>
                  <c:pt idx="1">
                    <c:v>Domain_registeration_length</c:v>
                  </c:pt>
                  <c:pt idx="2">
                    <c:v>SFH</c:v>
                  </c:pt>
                  <c:pt idx="3">
                    <c:v>Request_URL</c:v>
                  </c:pt>
                  <c:pt idx="4">
                    <c:v>Links_in_tags</c:v>
                  </c:pt>
                  <c:pt idx="5">
                    <c:v>having_Sub_Domain</c:v>
                  </c:pt>
                  <c:pt idx="6">
                    <c:v>web_traffic</c:v>
                  </c:pt>
                  <c:pt idx="7">
                    <c:v>Prefix_Suffix</c:v>
                  </c:pt>
                  <c:pt idx="8">
                    <c:v>URL_of_Anchor</c:v>
                  </c:pt>
                  <c:pt idx="9">
                    <c:v>SSLfinal_State</c:v>
                  </c:pt>
                </c:lvl>
              </c:multiLvlStrCache>
            </c:multiLvlStrRef>
          </c:cat>
          <c:val>
            <c:numRef>
              <c:f>Sheet1!$B$2:$B$11</c:f>
              <c:numCache>
                <c:formatCode>General</c:formatCode>
                <c:ptCount val="10"/>
                <c:pt idx="0">
                  <c:v>0.0082</c:v>
                </c:pt>
                <c:pt idx="1">
                  <c:v>0.023</c:v>
                </c:pt>
                <c:pt idx="2">
                  <c:v>0.0276</c:v>
                </c:pt>
                <c:pt idx="3">
                  <c:v>0.034</c:v>
                </c:pt>
                <c:pt idx="4">
                  <c:v>0.0344</c:v>
                </c:pt>
                <c:pt idx="5">
                  <c:v>0.075</c:v>
                </c:pt>
                <c:pt idx="6">
                  <c:v>0.0819</c:v>
                </c:pt>
                <c:pt idx="7">
                  <c:v>0.0856</c:v>
                </c:pt>
                <c:pt idx="8">
                  <c:v>0.3279</c:v>
                </c:pt>
                <c:pt idx="9">
                  <c:v>0.344</c:v>
                </c:pt>
              </c:numCache>
            </c:numRef>
          </c:val>
        </c:ser>
        <c:dLbls>
          <c:numFmt formatCode="0.00" sourceLinked="0"/>
          <c:txPr>
            <a:bodyPr/>
            <a:lstStyle/>
            <a:p>
              <a:pPr>
                <a:defRPr b="0" i="0" strike="noStrike" sz="1000" u="none">
                  <a:solidFill>
                    <a:srgbClr val="1B27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733"/>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Rows</c:v>
                </c:pt>
              </c:strCache>
            </c:strRef>
          </c:tx>
          <c:spPr>
            <a:solidFill>
              <a:schemeClr val="accent1"/>
            </a:solidFill>
            <a:ln w="9525" cap="flat">
              <a:solidFill>
                <a:srgbClr val="F9F9F9"/>
              </a:solidFill>
              <a:prstDash val="solid"/>
              <a:round/>
            </a:ln>
            <a:effectLst/>
          </c:spPr>
          <c:dPt>
            <c:idx val="0"/>
            <c:bubble3D val="0"/>
            <c:spPr>
              <a:solidFill>
                <a:srgbClr val="0F8480"/>
              </a:solidFill>
              <a:effectLst/>
            </c:spPr>
          </c:dPt>
          <c:dPt>
            <c:idx val="1"/>
            <c:bubble3D val="0"/>
            <c:spPr>
              <a:solidFill>
                <a:srgbClr val="B8C6D0"/>
              </a:solidFill>
              <a:effectLst/>
            </c:spPr>
          </c:dPt>
          <c:dLbls>
            <c:dLbl>
              <c:idx val="0"/>
              <c:numFmt formatCode="#,##0" sourceLinked="0"/>
              <c:spPr/>
              <c:txPr>
                <a:bodyPr/>
                <a:lstStyle/>
                <a:p>
                  <a:pPr>
                    <a:defRPr sz="1400" b="1" i="0" u="none" strike="noStrike">
                      <a:solidFill>
                        <a:srgbClr val="FFFFFF"/>
                      </a:solidFill>
                      <a:latin typeface="Arial"/>
                    </a:defRPr>
                  </a:pPr>
                </a:p>
              </c:txPr>
              <c:showLegendKey val="0"/>
              <c:showVal val="1"/>
              <c:showCatName val="0"/>
              <c:showSerName val="0"/>
              <c:showPercent val="0"/>
              <c:showBubbleSize val="0"/>
            </c:dLbl>
            <c:dLbl>
              <c:idx val="1"/>
              <c:numFmt formatCode="#,##0" sourceLinked="0"/>
              <c:spPr/>
              <c:txPr>
                <a:bodyPr/>
                <a:lstStyle/>
                <a:p>
                  <a:pPr>
                    <a:defRPr sz="1400" b="1" i="0" u="none" strike="noStrike">
                      <a:solidFill>
                        <a:srgbClr val="FFFFFF"/>
                      </a:solidFill>
                      <a:latin typeface="Arial"/>
                    </a:defRPr>
                  </a:pPr>
                </a:p>
              </c:txPr>
              <c:showLegendKey val="0"/>
              <c:showVal val="1"/>
              <c:showCatName val="0"/>
              <c:showSerName val="0"/>
              <c:showPercent val="0"/>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Unique patterns (first occurrence)</c:v>
                </c:pt>
                <c:pt idx="1">
                  <c:v>Additional repeats</c:v>
                </c:pt>
              </c:strCache>
            </c:strRef>
          </c:cat>
          <c:val>
            <c:numRef>
              <c:f>Sheet1!$B$2:$B$3</c:f>
              <c:numCache>
                <c:ptCount val="2"/>
                <c:pt idx="0">
                  <c:v>5785</c:v>
                </c:pt>
                <c:pt idx="1">
                  <c:v>5270</c:v>
                </c:pt>
              </c:numCache>
            </c:numRef>
          </c:val>
        </c:ser>
        <c:firstSliceAng val="0"/>
        <c:holeSize val="55"/>
      </c:doughnutChart>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Other models</c:v>
                </c:pt>
              </c:strCache>
            </c:strRef>
          </c:tx>
          <c:spPr>
            <a:solidFill>
              <a:srgbClr val="9FB4C4"/>
            </a:solidFill>
            <a:effectLst/>
          </c:spPr>
          <c:invertIfNegative val="0"/>
          <c:dLbls>
            <c:numFmt formatCode="0.00;;;" sourceLinked="0"/>
            <c:txPr>
              <a:bodyPr/>
              <a:lstStyle/>
              <a:p>
                <a:pPr>
                  <a:defRPr b="1" i="0" strike="noStrike" sz="1100" u="none">
                    <a:solidFill>
                      <a:srgbClr val="10213A"/>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Decision Tree</c:v>
                  </c:pt>
                  <c:pt idx="1">
                    <c:v>Categorical NB</c:v>
                  </c:pt>
                  <c:pt idx="2">
                    <c:v>k-Nearest Neighbours</c:v>
                  </c:pt>
                  <c:pt idx="3">
                    <c:v>Logistic Regression</c:v>
                  </c:pt>
                  <c:pt idx="4">
                    <c:v>Multilayer ANN</c:v>
                  </c:pt>
                  <c:pt idx="5">
                    <c:v>Simple RNN (bidirectional)</c:v>
                  </c:pt>
                  <c:pt idx="6">
                    <c:v>LSTM (bidirectional)</c:v>
                  </c:pt>
                  <c:pt idx="7">
                    <c:v>SVM (RBF)</c:v>
                  </c:pt>
                  <c:pt idx="8">
                    <c:v>Deep ANN (3 layers)</c:v>
                  </c:pt>
                  <c:pt idx="9">
                    <c:v>Gradient Boosting</c:v>
                  </c:pt>
                  <c:pt idx="10">
                    <c:v>Random Forest</c:v>
                  </c:pt>
                </c:lvl>
              </c:multiLvlStrCache>
            </c:multiLvlStrRef>
          </c:cat>
          <c:val>
            <c:numRef>
              <c:f>Sheet1!$B$2:$B$12</c:f>
              <c:numCache>
                <c:formatCode>General</c:formatCode>
                <c:ptCount val="11"/>
                <c:pt idx="0">
                  <c:v>91.69</c:v>
                </c:pt>
                <c:pt idx="1">
                  <c:v>91.76</c:v>
                </c:pt>
                <c:pt idx="2">
                  <c:v>92.47</c:v>
                </c:pt>
                <c:pt idx="3">
                  <c:v>92.99</c:v>
                </c:pt>
                <c:pt idx="4">
                  <c:v>93.62</c:v>
                </c:pt>
                <c:pt idx="5">
                  <c:v>93.63</c:v>
                </c:pt>
                <c:pt idx="6">
                  <c:v>94.09</c:v>
                </c:pt>
                <c:pt idx="7">
                  <c:v>94.23</c:v>
                </c:pt>
                <c:pt idx="8">
                  <c:v>94.28</c:v>
                </c:pt>
                <c:pt idx="9">
                  <c:v>94.57</c:v>
                </c:pt>
                <c:pt idx="10">
                  <c:v>0</c:v>
                </c:pt>
              </c:numCache>
            </c:numRef>
          </c:val>
        </c:ser>
        <c:ser>
          <c:idx val="1"/>
          <c:order val="1"/>
          <c:tx>
            <c:strRef>
              <c:f>Sheet1!$C$1</c:f>
              <c:strCache>
                <c:ptCount val="1"/>
                <c:pt idx="0">
                  <c:v>Selected</c:v>
                </c:pt>
              </c:strCache>
            </c:strRef>
          </c:tx>
          <c:spPr>
            <a:solidFill>
              <a:srgbClr val="0F8480"/>
            </a:solidFill>
            <a:effectLst/>
          </c:spPr>
          <c:invertIfNegative val="0"/>
          <c:dLbls>
            <c:numFmt formatCode="0.00;;;" sourceLinked="0"/>
            <c:txPr>
              <a:bodyPr/>
              <a:lstStyle/>
              <a:p>
                <a:pPr>
                  <a:defRPr b="1" i="0" strike="noStrike" sz="1100" u="none">
                    <a:solidFill>
                      <a:srgbClr val="10213A"/>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Decision Tree</c:v>
                  </c:pt>
                  <c:pt idx="1">
                    <c:v>Categorical NB</c:v>
                  </c:pt>
                  <c:pt idx="2">
                    <c:v>k-Nearest Neighbours</c:v>
                  </c:pt>
                  <c:pt idx="3">
                    <c:v>Logistic Regression</c:v>
                  </c:pt>
                  <c:pt idx="4">
                    <c:v>Multilayer ANN</c:v>
                  </c:pt>
                  <c:pt idx="5">
                    <c:v>Simple RNN (bidirectional)</c:v>
                  </c:pt>
                  <c:pt idx="6">
                    <c:v>LSTM (bidirectional)</c:v>
                  </c:pt>
                  <c:pt idx="7">
                    <c:v>SVM (RBF)</c:v>
                  </c:pt>
                  <c:pt idx="8">
                    <c:v>Deep ANN (3 layers)</c:v>
                  </c:pt>
                  <c:pt idx="9">
                    <c:v>Gradient Boosting</c:v>
                  </c:pt>
                  <c:pt idx="10">
                    <c:v>Random Forest</c:v>
                  </c:pt>
                </c:lvl>
              </c:multiLvlStrCache>
            </c:multiLvlStrRef>
          </c:cat>
          <c:val>
            <c:numRef>
              <c:f>Sheet1!$C$2:$C$12</c:f>
              <c:numCache>
                <c:formatCode>General</c:formatCode>
                <c:ptCount val="11"/>
                <c:pt idx="0">
                  <c:v>0</c:v>
                </c:pt>
                <c:pt idx="1">
                  <c:v>0</c:v>
                </c:pt>
                <c:pt idx="2">
                  <c:v>0</c:v>
                </c:pt>
                <c:pt idx="3">
                  <c:v>0</c:v>
                </c:pt>
                <c:pt idx="4">
                  <c:v>0</c:v>
                </c:pt>
                <c:pt idx="5">
                  <c:v>0</c:v>
                </c:pt>
                <c:pt idx="6">
                  <c:v>0</c:v>
                </c:pt>
                <c:pt idx="7">
                  <c:v>0</c:v>
                </c:pt>
                <c:pt idx="8">
                  <c:v>0</c:v>
                </c:pt>
                <c:pt idx="9">
                  <c:v>0</c:v>
                </c:pt>
                <c:pt idx="10">
                  <c:v>94.58</c:v>
                </c:pt>
              </c:numCache>
            </c:numRef>
          </c:val>
        </c:ser>
        <c:dLbls>
          <c:numFmt formatCode="0.00;;;" sourceLinked="0"/>
          <c:txPr>
            <a:bodyPr/>
            <a:lstStyle/>
            <a:p>
              <a:pPr>
                <a:defRPr b="1" i="0" strike="noStrike" sz="1100" u="none">
                  <a:solidFill>
                    <a:srgbClr val="10213A"/>
                  </a:solidFill>
                  <a:latin typeface="Arial"/>
                </a:defRPr>
              </a:pPr>
            </a:p>
          </c:txPr>
          <c:dLblPos val="inEnd"/>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733"/>
                </a:solidFill>
                <a:latin typeface="Calibri"/>
              </a:defRPr>
            </a:pPr>
            <a:endParaRPr lang="en-US"/>
          </a:p>
        </c:txPr>
        <c:crossAx val="2094734552"/>
        <c:crosses val="autoZero"/>
        <c:auto val="1"/>
        <c:lblAlgn val="ctr"/>
        <c:noMultiLvlLbl val="1"/>
      </c:catAx>
      <c:valAx>
        <c:axId val="2094734552"/>
        <c:scaling>
          <c:orientation val="minMax"/>
          <c:max val="96"/>
          <c:min val="85"/>
        </c:scaling>
        <c:delete val="0"/>
        <c:axPos val="b"/>
        <c:majorGridlines>
          <c:spPr>
            <a:ln w="6350" cap="flat">
              <a:solidFill>
                <a:srgbClr val="E1E7ED"/>
              </a:solidFill>
              <a:prstDash val="solid"/>
              <a:round/>
            </a:ln>
          </c:spPr>
        </c:majorGridlines>
        <c:title>
          <c:tx>
            <c:rich>
              <a:bodyPr/>
              <a:lstStyle/>
              <a:p>
                <a:pPr>
                  <a:defRPr sz="1100" b="0" i="0" u="none" strike="noStrike">
                    <a:solidFill>
                      <a:srgbClr val="5B6770"/>
                    </a:solidFill>
                    <a:latin typeface="Arial"/>
                  </a:defRPr>
                </a:pPr>
                <a:r>
                  <a:rPr sz="1100" b="0" i="0" u="none" strike="noStrike">
                    <a:solidFill>
                      <a:srgbClr val="5B6770"/>
                    </a:solidFill>
                    <a:latin typeface="Arial"/>
                  </a:rPr>
                  <a:t>CV F1 (%) – axis starts at 85%</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A858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13A"/>
                </a:solidFill>
                <a:latin typeface="Calibri"/>
              </a:defRPr>
            </a:pPr>
            <a:r>
              <a:rPr sz="1300" b="0" i="0" u="none" strike="noStrike">
                <a:solidFill>
                  <a:srgbClr val="10213A"/>
                </a:solidFill>
                <a:latin typeface="Calibri"/>
              </a:rPr>
              <a:t>Test F1 (%) – axis starts at 85%</a:t>
            </a:r>
          </a:p>
        </c:rich>
      </c:tx>
      <c:layout/>
      <c:overlay val="0"/>
    </c:title>
    <c:autoTitleDeleted val="0"/>
    <c:plotArea>
      <c:layout/>
      <c:barChart>
        <c:barDir val="bar"/>
        <c:grouping val="clustered"/>
        <c:varyColors val="0"/>
        <c:ser>
          <c:idx val="0"/>
          <c:order val="0"/>
          <c:tx>
            <c:strRef>
              <c:f>Sheet1!$B$1</c:f>
              <c:strCache>
                <c:ptCount val="1"/>
                <c:pt idx="0">
                  <c:v>Test F1</c:v>
                </c:pt>
              </c:strCache>
            </c:strRef>
          </c:tx>
          <c:spPr>
            <a:solidFill>
              <a:srgbClr val="C0463C"/>
            </a:solidFill>
            <a:effectLst/>
          </c:spPr>
          <c:invertIfNegative val="0"/>
          <c:dLbls>
            <c:numFmt formatCode="0.00&quot;%&quot;" sourceLinked="0"/>
            <c:txPr>
              <a:bodyPr/>
              <a:lstStyle/>
              <a:p>
                <a:pPr>
                  <a:defRPr b="0" i="0" strike="noStrike" sz="1100" u="none">
                    <a:solidFill>
                      <a:srgbClr val="1B2733"/>
                    </a:solidFill>
                    <a:latin typeface="Arial"/>
                  </a:defRPr>
                </a:pPr>
              </a:p>
            </c:txPr>
            <c:showLegendKey val="0"/>
            <c:showVal val="1"/>
            <c:showCatName val="0"/>
            <c:showSerName val="0"/>
            <c:showPercent val="0"/>
            <c:showBubbleSize val="0"/>
            <c:showLeaderLines val="0"/>
          </c:dLbls>
          <c:cat>
            <c:multiLvlStrRef>
              <c:f>Sheet1!$A$2:$A$6</c:f>
              <c:multiLvlStrCache>
                <c:ptCount val="5"/>
                <c:lvl>
                  <c:pt idx="0">
                    <c:v>Multilayer ANN (32, 16)</c:v>
                  </c:pt>
                  <c:pt idx="1">
                    <c:v>Deep ANN (128, 64, 32)</c:v>
                  </c:pt>
                  <c:pt idx="2">
                    <c:v>Bidirectional LSTM</c:v>
                  </c:pt>
                  <c:pt idx="3">
                    <c:v>Bidirectional RNN</c:v>
                  </c:pt>
                  <c:pt idx="4">
                    <c:v>Random Forest (reference)</c:v>
                  </c:pt>
                </c:lvl>
              </c:multiLvlStrCache>
            </c:multiLvlStrRef>
          </c:cat>
          <c:val>
            <c:numRef>
              <c:f>Sheet1!$B$2:$B$6</c:f>
              <c:numCache>
                <c:formatCode>General</c:formatCode>
                <c:ptCount val="5"/>
                <c:pt idx="0">
                  <c:v>93.57</c:v>
                </c:pt>
                <c:pt idx="1">
                  <c:v>94.27</c:v>
                </c:pt>
                <c:pt idx="2">
                  <c:v>93.03</c:v>
                </c:pt>
                <c:pt idx="3">
                  <c:v>92.82</c:v>
                </c:pt>
                <c:pt idx="4">
                  <c:v>95.91</c:v>
                </c:pt>
              </c:numCache>
            </c:numRef>
          </c:val>
        </c:ser>
        <c:dLbls>
          <c:numFmt formatCode="0.00&quot;%&quot;" sourceLinked="0"/>
          <c:txPr>
            <a:bodyPr/>
            <a:lstStyle/>
            <a:p>
              <a:pPr>
                <a:defRPr b="0" i="0" strike="noStrike" sz="1100" u="none">
                  <a:solidFill>
                    <a:srgbClr val="1B27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733"/>
                </a:solidFill>
                <a:latin typeface="Calibri"/>
              </a:defRPr>
            </a:pPr>
            <a:endParaRPr lang="en-US"/>
          </a:p>
        </c:txPr>
        <c:crossAx val="2094734552"/>
        <c:crosses val="autoZero"/>
        <c:auto val="1"/>
        <c:lblAlgn val="ctr"/>
        <c:noMultiLvlLbl val="1"/>
      </c:catAx>
      <c:valAx>
        <c:axId val="2094734552"/>
        <c:scaling>
          <c:orientation val="minMax"/>
          <c:max val="97"/>
          <c:min val="85"/>
        </c:scaling>
        <c:delete val="0"/>
        <c:axPos val="b"/>
        <c:majorGridlines>
          <c:spPr>
            <a:ln w="6350" cap="flat">
              <a:solidFill>
                <a:srgbClr val="E1E7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A858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13A"/>
                </a:solidFill>
                <a:latin typeface="Calibri"/>
              </a:defRPr>
            </a:pPr>
            <a:r>
              <a:rPr sz="1300" b="0" i="0" u="none" strike="noStrike">
                <a:solidFill>
                  <a:srgbClr val="10213A"/>
                </a:solidFill>
                <a:latin typeface="Calibri"/>
              </a:rPr>
              <a:t>F1 drop in percentage points (10 repeats)</a:t>
            </a:r>
          </a:p>
        </c:rich>
      </c:tx>
      <c:layout/>
      <c:overlay val="0"/>
    </c:title>
    <c:autoTitleDeleted val="0"/>
    <c:plotArea>
      <c:layout/>
      <c:barChart>
        <c:barDir val="bar"/>
        <c:grouping val="clustered"/>
        <c:varyColors val="0"/>
        <c:ser>
          <c:idx val="0"/>
          <c:order val="0"/>
          <c:tx>
            <c:strRef>
              <c:f>Sheet1!$B$1</c:f>
              <c:strCache>
                <c:ptCount val="1"/>
                <c:pt idx="0">
                  <c:v>F1 drop</c:v>
                </c:pt>
              </c:strCache>
            </c:strRef>
          </c:tx>
          <c:spPr>
            <a:solidFill>
              <a:srgbClr val="0F8480"/>
            </a:solidFill>
            <a:effectLst/>
          </c:spPr>
          <c:invertIfNegative val="0"/>
          <c:dLbls>
            <c:numFmt formatCode="0.0" sourceLinked="0"/>
            <c:txPr>
              <a:bodyPr/>
              <a:lstStyle/>
              <a:p>
                <a:pPr>
                  <a:defRPr b="0" i="0" strike="noStrike" sz="1100" u="none">
                    <a:solidFill>
                      <a:srgbClr val="1B2733"/>
                    </a:solidFill>
                    <a:latin typeface="Arial"/>
                  </a:defRPr>
                </a:pPr>
              </a:p>
            </c:txPr>
            <c:showLegendKey val="0"/>
            <c:showVal val="1"/>
            <c:showCatName val="0"/>
            <c:showSerName val="0"/>
            <c:showPercent val="0"/>
            <c:showBubbleSize val="0"/>
            <c:showLeaderLines val="0"/>
          </c:dLbls>
          <c:cat>
            <c:multiLvlStrRef>
              <c:f>Sheet1!$A$2:$A$11</c:f>
              <c:multiLvlStrCache>
                <c:ptCount val="10"/>
                <c:lvl>
                  <c:pt idx="0">
                    <c:v>Links_pointing_to_page</c:v>
                  </c:pt>
                  <c:pt idx="1">
                    <c:v>Domain_registeration_length</c:v>
                  </c:pt>
                  <c:pt idx="2">
                    <c:v>age_of_domain</c:v>
                  </c:pt>
                  <c:pt idx="3">
                    <c:v>Request_URL</c:v>
                  </c:pt>
                  <c:pt idx="4">
                    <c:v>having_Sub_Domain</c:v>
                  </c:pt>
                  <c:pt idx="5">
                    <c:v>Links_in_tags</c:v>
                  </c:pt>
                  <c:pt idx="6">
                    <c:v>web_traffic</c:v>
                  </c:pt>
                  <c:pt idx="7">
                    <c:v>Prefix_Suffix</c:v>
                  </c:pt>
                  <c:pt idx="8">
                    <c:v>URL_of_Anchor</c:v>
                  </c:pt>
                  <c:pt idx="9">
                    <c:v>SSLfinal_State</c:v>
                  </c:pt>
                </c:lvl>
              </c:multiLvlStrCache>
            </c:multiLvlStrRef>
          </c:cat>
          <c:val>
            <c:numRef>
              <c:f>Sheet1!$B$2:$B$11</c:f>
              <c:numCache>
                <c:formatCode>General</c:formatCode>
                <c:ptCount val="10"/>
                <c:pt idx="0">
                  <c:v>1.09</c:v>
                </c:pt>
                <c:pt idx="1">
                  <c:v>1.16</c:v>
                </c:pt>
                <c:pt idx="2">
                  <c:v>1.21</c:v>
                </c:pt>
                <c:pt idx="3">
                  <c:v>1.29</c:v>
                </c:pt>
                <c:pt idx="4">
                  <c:v>1.66</c:v>
                </c:pt>
                <c:pt idx="5">
                  <c:v>2.01</c:v>
                </c:pt>
                <c:pt idx="6">
                  <c:v>2.58</c:v>
                </c:pt>
                <c:pt idx="7">
                  <c:v>3.71</c:v>
                </c:pt>
                <c:pt idx="8">
                  <c:v>11.79</c:v>
                </c:pt>
                <c:pt idx="9">
                  <c:v>13.62</c:v>
                </c:pt>
              </c:numCache>
            </c:numRef>
          </c:val>
        </c:ser>
        <c:dLbls>
          <c:numFmt formatCode="0.0" sourceLinked="0"/>
          <c:txPr>
            <a:bodyPr/>
            <a:lstStyle/>
            <a:p>
              <a:pPr>
                <a:defRPr b="0" i="0" strike="noStrike" sz="1100" u="none">
                  <a:solidFill>
                    <a:srgbClr val="1B27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733"/>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 (about 25 s)
Hello everyone. We are Group [No.] from [Campus]. I am [Presenter A name], and my teammate is [Presenter B name].
Our project is phishing website detection. We compared machine learning and deep learning models on 11,055 website records from the UCI Machine Learning Repository to see which model separates phishing websites from legitimate ones most reliably.
I will cover the motivation, the dataset, our preprocessing and our evaluation design. [Presenter B name] will then present the results, the testing and our conclusion.
(Cover artwork is an AI-generated conceptual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 (about 20 s)
Here is our roadmap. I will take slides 3 to 9: why phishing matters, the data, how we prepared it and how we designed a fair evaluation, and the eleven models we trained.
[Presenter B name] takes slides 10 to 18: which model won in cross-validation, how every model performed on unseen test data, whether the differences are statistically significant, what the deep learning models taught us, and our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 (about 40 s)
Why phishing? The Anti-Phishing Working Group observed about 3.8 million phishing attacks in 2025, with more than 850 thousand in the last quarter alone. At that scale, manual blocklists cannot keep up, so we want models that learn from the characteristics of a website.
The two possible mistakes are not equal. Missing a phishing site can lead to stolen credentials, while a false alarm blocks a legitimate site. That is why we report precision, recall and F1, not just accuracy.
Our research question is: which machine learning or deep learning model best separates phishing from legitimate websites when it is evaluated fairly on patterns it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 (about 40 s)
Our dataset is the UCI Phishing Websites dataset by Mohammad and McCluskey. It has 11,055 website records and 30 input features with no missing values.
The features were engineered by the dataset authors and fall into four groups: address-bar features such as whether the site has a valid HTTPS certificate; abnormal-content features such as where links and forms point; HTML and JavaScript tricks such as hidden iframes; and domain-reputation features such as domain age and web traffic.
Each feature is a category: minus one looks phishing-like, zero is suspicious, and plus one looks legitimate. The target is phishing or legitimate; we made phishing the positive class, so all precision, recall and F1 values measure phishing detection. About 44 percent of records are phishing, so the classes are reasonably balanced.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 (about 45 s)
Before modelling we explored the data. On the left, the classes are moderately balanced: 56 percent legitimate and 44 percent phishing. That means accuracy is meaningful, but we still used phishing F1 to choose models because it balances missed attacks and false alarms.
On the right is mutual information, which measures how much knowing a feature reduces uncertainty about the label. We calculated it on the development data only, so the test set was never used.
Two indicators dominate: SSLfinal_State, which describes the HTTPS certificate, and URL_of_Anchor, the share of links pointing to other domains. After those, the signal drops sharply, so a good model has to combine many weaker indicators. We also checked a correlation heat map, which is in our results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 (about 40 s)
Our data audit found something important. Of 11,055 rows, only 5,785 have a unique combination of feature values. The other 5,270 rows repeat a pattern that already exists, and 64 patterns even appear with both labels.
Why does this matter? With an ordinary random split, the same pattern can land in both training and test sets. The model is then tested on examples it has effectively memorised, and the scores look better than they really are. This is data leakage.
Our fix was to hash every pattern into a group and keep each group entirely on one side of every split. We kept the conflicting records rather than deleting them to make the scores look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 (about 40 s)
Here is our preprocessing pipeline. First, we mapped the target so phishing is class 1. Second, we grouped identical rows, as I just explained.
Third, encoding. The feature values are categories, so for the tree, forest, neural networks, logistic regression, k-nearest neighbours and SVM we one-hot encoded them, turning 30 features into 90 binary columns. Naive Bayes and gradient boosting take the category codes directly, and the LSTM and RNN turn each feature value into a token with a learned embedding.
Fourth, as a feature-engineering extension, we tested keeping only the top 10 features by mutual information, selected inside each training fold.
Every step is inside a scikit-learn pipeline, so nothing is learned from validation or test data. No scaling or imputation was needed because the inputs are already bounded and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 (about 40 s)
Our evaluation design follows one rule: choose first, then test once.
Step one, we reserved 20 percent of the data, 2,210 records, as a test set, keeping groups intact.
Step two, we tuned every model on the remaining 8,845 records with three grouped cross-validation folds. Every model saw exactly the same folds, and we tuned for phishing F1.
Step three, the model with the highest mean cross-validation F1 was selected before we looked at any test result.
Step four, we evaluated every model once on the test set with accuracy, precision, recall, F1, ROC AUC and the confusion matrix, and added a bootstrap confidence interval and McNemar significance tests. The code checks automatically that no pattern crosses a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 (about 50 s)
We trained eleven models in three families.
The four required models: a decision tree, which learns if-then splits; a random forest of 150 trees that vote; categorical naive Bayes, which combines per-feature probabilities assuming independence; and a multilayer neural network with two hidden layers.
To make the study comprehensive we added four more algorithms: logistic regression as a linear baseline, k-nearest neighbours, a support vector machine with an RBF kernel, and gradient boosting.
For deep learning we added a deeper three-layer network, and, as the brief suggests, an LSTM and a simple RNN built in PyTorch, which read the 30 indicators as a sequence of tokens.
We also include a majority-class baseline. Every model was tuned on the same grouped folds with fixed random seeds.
Now I will hand over to [Presenter B name], who will show you how these models performed.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 (about 40 s)
Thank you, [Presenter A name]. I will start with model selection.
This chart shows mean F1 across the three grouped development folds. Note that the axis starts at 85 percent, so the differences look larger than they are.
The random forest had the highest cross-validation F1, 94.58 percent, so it became our primary model, and this decision was fixed before we opened the test set. Gradient boosting was effectively tied, only 0.01 points behind, and the deep ANN, SVM and LSTM were close. Naive Bayes and the single decision tree were weakest at around 91.7 percent.
The forest scored 98.8 percent on its training folds, so there is a normal gap between training and validation, which we monitor rather than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 (about 50 s)
Here is every model on the same 2,210 unseen test records. The random forest also leads on the test set, with 96.38 percent accuracy, 95.71 percent recall and 95.91 percent F1. Its 95 percent confidence interval for F1 runs from about 94.3 to 97.3 percent.
The deep ANN had the highest precision, 97.18 percent, meaning its alerts are the most trustworthy, but it caught fewer phishing sites. Gradient boosting tied the forest on ROC AUC at 0.993.
Every learned model beats the majority baseline, which always predicts legitimate. It gets 55.7 percent accuracy but catches zero phishing. That is exactly why accuracy alone is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 (about 30 s)
ROC curves show the trade-off between catching phishing and raising false alarms at every possible threshold. We zoomed into the top-left corner because that is where the models differ.
The random forest, shown in the thick teal line, and gradient boosting both reach an AUC of 0.993. Every learned model is above 0.95, far from the 0.5 of random guessing.
AUC measures ranking, not a final decision. A real system would pick a threshold based on how costly a missed phishing site is compared with a false alarm.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 (about 40 s)
High scores can hide individual errors, so here is the forest's confusion matrix. It caught 937 of 979 phishing sites and missed 42. It wrongly flagged 38 of 1,231 legitimate sites. So recall is 95.7 percent and precision is 96.1 percent.
In security terms, about 4 percent of phishing sites would slip through, and about 3 percent of legitimate sites would be blocked.
On the right you can see that models make different kinds of mistakes. The deep ANN raises the fewest false alarms, only 26, but it misses 83 phishing sites, twice as many as the forest. For a security tool where a missed attack is costly, the forest's balance is preferable.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 (about 40 s)
Are these differences real or just luck? We tested this in two ways.
First, a bootstrap confidence interval: we resampled whole groups of the test set a thousand times. The forest's F1 interval is about 94.3 to 97.3 percent.
Second, McNemar's test, which looks only at the records where two models disagree. For example, against the SVM, the forest was right and the SVM wrong on 43 records, but the reverse happened only 21 times. After a Holm correction for eleven comparisons, the forest is significantly better than every other model at the 1 percent level.
We are careful with this claim: the intervals of close rivals overlap, repeated rows are not fully independent, and this is one split of one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 (about 40 s)
What did deep learning add? The deeper three-layer network improved on the required two-layer ANN, from 93.6 to 94.3 percent F1. The bidirectional LSTM and RNN, built in PyTorch, reached about 93 percent. None of them beat the random forest.
Our saved loss curves show the networks did converge, so this is not simply under-training.
The reason is the data: 30 categorical indicators with no natural order. An LSTM is designed for sequences such as text or time series, so here it has no temporal pattern to exploit, while trees capture threshold-style interactions directly. This matches published research showing tree ensembles often outperform deep networks on medium-sized tabular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 (about 45 s)
To explain the forest, we used permutation importance: we shuffle one indicator and measure how much test F1 drops. The same two indicators from the exploratory analysis dominate: SSLfinal_State and URL_of_Anchor each cost more than 11 F1 points when shuffled. Prefix-suffix in the domain, web traffic and links in tags follow.
We then tested a simpler model using only the top ten features by mutual information. F1 fell by 2.4 points, and false alarms doubled from 38 to 78. So although most signal comes from a few indicators, the remaining features still add useful information. Importance here shows association, not causation.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 (about 45 s)
To conclude: our answer to the research question is that, on this benchmark, a random forest separates phishing from legitimate websites most reliably. It was selected by cross-validation, reached 95.9 percent F1 and 96.4 percent accuracy on unseen data, and was significantly better than all ten rival models.
Deeper networks, the LSTM and the RNN did not beat tree ensembles on this tabular data, and although two indicators drive most decisions, all 30 features add value.
The limitations are important: the data are from 2015, features were pre-extracted, we could not separate by domain or time, and we used one outer split.
For future work, we would test on recent independent data, choose a threshold based on error costs, and extract features live from URLs.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 (about 15 s)
These are our references, including the dataset, the phishing trends report, and the methods we used. All code, results and figures are reproducible from our project folder. Thank you for listening.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only if asked. GridSearchCV refits the best configuration on all development rows. Seeds fixed at 565. For the recurrent models, early stopping on each grouped validation fold picked the epoch count; the final model is refit on all development rows for the median epoch count. Because the epoch count was chosen on validation data, the recurrent CV F1 is slightly optimistic.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only if asked about metrics or encoding. F1 penalises a low value in either precision or recall. AUC does not certify calibrated probabilities.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13A"/>
        </a:solidFill>
      </p:bgPr>
    </p:bg>
    <p:spTree>
      <p:nvGrpSpPr>
        <p:cNvPr id="1" name=""/>
        <p:cNvGrpSpPr/>
        <p:nvPr/>
      </p:nvGrpSpPr>
      <p:grpSpPr>
        <a:xfrm>
          <a:off x="0" y="0"/>
          <a:ext cx="0" cy="0"/>
          <a:chOff x="0" y="0"/>
          <a:chExt cx="0" cy="0"/>
        </a:xfrm>
      </p:grpSpPr>
      <p:sp>
        <p:nvSpPr>
          <p:cNvPr id="2" name="Text 0"/>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FA3B5"/>
                </a:solidFill>
                <a:latin typeface="Calibri" pitchFamily="34" charset="0"/>
                <a:ea typeface="Calibri" pitchFamily="34" charset="-122"/>
                <a:cs typeface="Calibri" pitchFamily="34" charset="-120"/>
              </a:rPr>
              <a:t>01</a:t>
            </a:r>
            <a:endParaRPr lang="en-US" sz="1000" dirty="0"/>
          </a:p>
        </p:txBody>
      </p:sp>
      <p:pic>
        <p:nvPicPr>
          <p:cNvPr id="3" name="Image 0" descr="cover.jpg">    </p:cNvPr>
          <p:cNvPicPr>
            <a:picLocks noChangeAspect="1"/>
          </p:cNvPicPr>
          <p:nvPr/>
        </p:nvPicPr>
        <p:blipFill>
          <a:blip r:embed="rId1"/>
          <a:srcRect l="0" r="0" t="0" b="0"/>
          <a:stretch/>
        </p:blipFill>
        <p:spPr>
          <a:xfrm>
            <a:off x="5852160" y="0"/>
            <a:ext cx="6339535" cy="6858000"/>
          </a:xfrm>
          <a:prstGeom prst="rect">
            <a:avLst/>
          </a:prstGeom>
        </p:spPr>
      </p:pic>
      <p:sp>
        <p:nvSpPr>
          <p:cNvPr id="4" name="Text 1"/>
          <p:cNvSpPr txBox="1"/>
          <p:nvPr/>
        </p:nvSpPr>
        <p:spPr>
          <a:xfrm>
            <a:off x="548640" y="548640"/>
            <a:ext cx="5120640" cy="548640"/>
          </a:xfrm>
          <a:prstGeom prst="rect">
            <a:avLst/>
          </a:prstGeom>
          <a:noFill/>
          <a:ln/>
        </p:spPr>
        <p:txBody>
          <a:bodyPr wrap="square" lIns="0" tIns="0" rIns="0" bIns="0" rtlCol="0" anchor="ctr"/>
          <a:lstStyle/>
          <a:p>
            <a:pPr indent="0" marL="0">
              <a:buNone/>
            </a:pPr>
            <a:r>
              <a:rPr lang="en-US" sz="1300" dirty="0">
                <a:solidFill>
                  <a:srgbClr val="5FD3C6"/>
                </a:solidFill>
                <a:latin typeface="Calibri" pitchFamily="34" charset="0"/>
                <a:ea typeface="Calibri" pitchFamily="34" charset="-122"/>
                <a:cs typeface="Calibri" pitchFamily="34" charset="-120"/>
              </a:rPr>
              <a:t>PRT565 Machine Learning, Artificial Intelligence and Algorithms  ·  Assessment 3</a:t>
            </a:r>
            <a:endParaRPr lang="en-US" sz="1300" dirty="0"/>
          </a:p>
        </p:txBody>
      </p:sp>
      <p:sp>
        <p:nvSpPr>
          <p:cNvPr id="5" name="Text 2"/>
          <p:cNvSpPr txBox="1"/>
          <p:nvPr/>
        </p:nvSpPr>
        <p:spPr>
          <a:xfrm>
            <a:off x="548640" y="1234440"/>
            <a:ext cx="5212080" cy="137160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Phishing Website Detection</a:t>
            </a:r>
            <a:endParaRPr lang="en-US" sz="4400" dirty="0"/>
          </a:p>
        </p:txBody>
      </p:sp>
      <p:sp>
        <p:nvSpPr>
          <p:cNvPr id="6" name="Text 3"/>
          <p:cNvSpPr txBox="1"/>
          <p:nvPr/>
        </p:nvSpPr>
        <p:spPr>
          <a:xfrm>
            <a:off x="548640" y="2697480"/>
            <a:ext cx="5029200" cy="822960"/>
          </a:xfrm>
          <a:prstGeom prst="rect">
            <a:avLst/>
          </a:prstGeom>
          <a:noFill/>
          <a:ln/>
        </p:spPr>
        <p:txBody>
          <a:bodyPr wrap="square" lIns="0" tIns="0" rIns="0" bIns="0" rtlCol="0" anchor="t"/>
          <a:lstStyle/>
          <a:p>
            <a:pPr indent="0" marL="0">
              <a:buNone/>
            </a:pPr>
            <a:r>
              <a:rPr lang="en-US" sz="1800" dirty="0">
                <a:solidFill>
                  <a:srgbClr val="C9D6E2"/>
                </a:solidFill>
                <a:latin typeface="Calibri" pitchFamily="34" charset="0"/>
                <a:ea typeface="Calibri" pitchFamily="34" charset="-122"/>
                <a:cs typeface="Calibri" pitchFamily="34" charset="-120"/>
              </a:rPr>
              <a:t>Comparing machine learning and deep learning models on 11,055 real website records</a:t>
            </a:r>
            <a:endParaRPr lang="en-US" sz="1800" dirty="0"/>
          </a:p>
        </p:txBody>
      </p:sp>
      <p:sp>
        <p:nvSpPr>
          <p:cNvPr id="7" name="Text 4"/>
          <p:cNvSpPr txBox="1"/>
          <p:nvPr/>
        </p:nvSpPr>
        <p:spPr>
          <a:xfrm>
            <a:off x="548640" y="3977640"/>
            <a:ext cx="5029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Group [No.]  ·  [Campus]</a:t>
            </a:r>
            <a:endParaRPr lang="en-US" sz="1500" dirty="0"/>
          </a:p>
        </p:txBody>
      </p:sp>
      <p:sp>
        <p:nvSpPr>
          <p:cNvPr id="8" name="Shape 5"/>
          <p:cNvSpPr/>
          <p:nvPr/>
        </p:nvSpPr>
        <p:spPr>
          <a:xfrm>
            <a:off x="548640" y="4599432"/>
            <a:ext cx="201168" cy="201168"/>
          </a:xfrm>
          <a:prstGeom prst="ellipse">
            <a:avLst/>
          </a:prstGeom>
          <a:solidFill>
            <a:srgbClr val="0F8480"/>
          </a:solidFill>
          <a:ln/>
        </p:spPr>
      </p:sp>
      <p:sp>
        <p:nvSpPr>
          <p:cNvPr id="9" name="Text 6"/>
          <p:cNvSpPr txBox="1"/>
          <p:nvPr/>
        </p:nvSpPr>
        <p:spPr>
          <a:xfrm>
            <a:off x="914400" y="4526280"/>
            <a:ext cx="4754880" cy="6858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[Presenter A name]  ·  [Student ID]</a:t>
            </a:r>
            <a:endParaRPr lang="en-US" sz="1400" dirty="0"/>
          </a:p>
          <a:p>
            <a:pPr indent="0" marL="0">
              <a:buNone/>
            </a:pPr>
            <a:r>
              <a:rPr lang="en-US" sz="1400" dirty="0">
                <a:solidFill>
                  <a:srgbClr val="AFC0CF"/>
                </a:solidFill>
                <a:latin typeface="Calibri" pitchFamily="34" charset="0"/>
                <a:ea typeface="Calibri" pitchFamily="34" charset="-122"/>
                <a:cs typeface="Calibri" pitchFamily="34" charset="-120"/>
              </a:rPr>
              <a:t>Presenter A: Introduction, data &amp; method</a:t>
            </a:r>
            <a:endParaRPr lang="en-US" sz="1400" dirty="0"/>
          </a:p>
        </p:txBody>
      </p:sp>
      <p:sp>
        <p:nvSpPr>
          <p:cNvPr id="10" name="Shape 7"/>
          <p:cNvSpPr/>
          <p:nvPr/>
        </p:nvSpPr>
        <p:spPr>
          <a:xfrm>
            <a:off x="548640" y="5376672"/>
            <a:ext cx="201168" cy="201168"/>
          </a:xfrm>
          <a:prstGeom prst="ellipse">
            <a:avLst/>
          </a:prstGeom>
          <a:solidFill>
            <a:srgbClr val="DCA84B"/>
          </a:solidFill>
          <a:ln/>
        </p:spPr>
      </p:sp>
      <p:sp>
        <p:nvSpPr>
          <p:cNvPr id="11" name="Text 8"/>
          <p:cNvSpPr txBox="1"/>
          <p:nvPr/>
        </p:nvSpPr>
        <p:spPr>
          <a:xfrm>
            <a:off x="914400" y="5303520"/>
            <a:ext cx="4754880" cy="6858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[Presenter B name]  ·  [Student ID]</a:t>
            </a:r>
            <a:endParaRPr lang="en-US" sz="1400" dirty="0"/>
          </a:p>
          <a:p>
            <a:pPr indent="0" marL="0">
              <a:buNone/>
            </a:pPr>
            <a:r>
              <a:rPr lang="en-US" sz="1400" dirty="0">
                <a:solidFill>
                  <a:srgbClr val="AFC0CF"/>
                </a:solidFill>
                <a:latin typeface="Calibri" pitchFamily="34" charset="0"/>
                <a:ea typeface="Calibri" pitchFamily="34" charset="-122"/>
                <a:cs typeface="Calibri" pitchFamily="34" charset="-120"/>
              </a:rPr>
              <a:t>Presenter B: Results, evaluation &amp; conclusion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Roadmap and who presents what</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Two presenters, one experiment, about 11 minutes</a:t>
            </a:r>
            <a:endParaRPr lang="en-US" sz="1600" dirty="0"/>
          </a:p>
        </p:txBody>
      </p:sp>
      <p:sp>
        <p:nvSpPr>
          <p:cNvPr id="4" name="Shape 2"/>
          <p:cNvSpPr/>
          <p:nvPr/>
        </p:nvSpPr>
        <p:spPr>
          <a:xfrm>
            <a:off x="10104120" y="384048"/>
            <a:ext cx="1554480" cy="384048"/>
          </a:xfrm>
          <a:prstGeom prst="roundRect">
            <a:avLst>
              <a:gd name="adj" fmla="val 50000"/>
            </a:avLst>
          </a:prstGeom>
          <a:solidFill>
            <a:srgbClr val="0F8480"/>
          </a:solidFill>
          <a:ln/>
        </p:spPr>
      </p:sp>
      <p:sp>
        <p:nvSpPr>
          <p:cNvPr id="5" name="Text 3"/>
          <p:cNvSpPr txBox="1"/>
          <p:nvPr/>
        </p:nvSpPr>
        <p:spPr>
          <a:xfrm>
            <a:off x="10104120" y="384048"/>
            <a:ext cx="15544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Presenter A</a:t>
            </a:r>
            <a:endParaRPr lang="en-US" sz="1200" dirty="0"/>
          </a:p>
        </p:txBody>
      </p:sp>
      <p:sp>
        <p:nvSpPr>
          <p:cNvPr id="6" name="Text 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02</a:t>
            </a:r>
            <a:endParaRPr lang="en-US" sz="1000" dirty="0"/>
          </a:p>
        </p:txBody>
      </p:sp>
      <p:sp>
        <p:nvSpPr>
          <p:cNvPr id="7" name="Shape 5"/>
          <p:cNvSpPr/>
          <p:nvPr/>
        </p:nvSpPr>
        <p:spPr>
          <a:xfrm>
            <a:off x="548640" y="1691640"/>
            <a:ext cx="5394960" cy="4480560"/>
          </a:xfrm>
          <a:prstGeom prst="roundRect">
            <a:avLst>
              <a:gd name="adj" fmla="val 1633"/>
            </a:avLst>
          </a:prstGeom>
          <a:solidFill>
            <a:srgbClr val="FFFFFF"/>
          </a:solidFill>
          <a:ln w="9525">
            <a:solidFill>
              <a:srgbClr val="D5DDE5"/>
            </a:solidFill>
            <a:prstDash val="solid"/>
          </a:ln>
        </p:spPr>
      </p:sp>
      <p:sp>
        <p:nvSpPr>
          <p:cNvPr id="8" name="Shape 6"/>
          <p:cNvSpPr/>
          <p:nvPr/>
        </p:nvSpPr>
        <p:spPr>
          <a:xfrm>
            <a:off x="822960" y="1920240"/>
            <a:ext cx="1737360" cy="411480"/>
          </a:xfrm>
          <a:prstGeom prst="roundRect">
            <a:avLst>
              <a:gd name="adj" fmla="val 48889"/>
            </a:avLst>
          </a:prstGeom>
          <a:solidFill>
            <a:srgbClr val="0F8480"/>
          </a:solidFill>
          <a:ln/>
        </p:spPr>
      </p:sp>
      <p:sp>
        <p:nvSpPr>
          <p:cNvPr id="9" name="Text 7"/>
          <p:cNvSpPr txBox="1"/>
          <p:nvPr/>
        </p:nvSpPr>
        <p:spPr>
          <a:xfrm>
            <a:off x="822960" y="1920240"/>
            <a:ext cx="173736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Presenter A</a:t>
            </a:r>
            <a:endParaRPr lang="en-US" sz="1300" dirty="0"/>
          </a:p>
        </p:txBody>
      </p:sp>
      <p:sp>
        <p:nvSpPr>
          <p:cNvPr id="10" name="Text 8"/>
          <p:cNvSpPr txBox="1"/>
          <p:nvPr/>
        </p:nvSpPr>
        <p:spPr>
          <a:xfrm>
            <a:off x="2743200" y="1920240"/>
            <a:ext cx="3017520" cy="411480"/>
          </a:xfrm>
          <a:prstGeom prst="rect">
            <a:avLst/>
          </a:prstGeom>
          <a:noFill/>
          <a:ln/>
        </p:spPr>
        <p:txBody>
          <a:bodyPr wrap="square" lIns="0" tIns="0" rIns="0" bIns="0" rtlCol="0" anchor="ctr"/>
          <a:lstStyle/>
          <a:p>
            <a:pPr indent="0" marL="0">
              <a:buNone/>
            </a:pPr>
            <a:r>
              <a:rPr lang="en-US" sz="1500" b="1" dirty="0">
                <a:solidFill>
                  <a:srgbClr val="10213A"/>
                </a:solidFill>
                <a:latin typeface="Calibri" pitchFamily="34" charset="0"/>
                <a:ea typeface="Calibri" pitchFamily="34" charset="-122"/>
                <a:cs typeface="Calibri" pitchFamily="34" charset="-120"/>
              </a:rPr>
              <a:t>[Presenter A name]</a:t>
            </a:r>
            <a:endParaRPr lang="en-US" sz="1500" dirty="0"/>
          </a:p>
        </p:txBody>
      </p:sp>
      <p:sp>
        <p:nvSpPr>
          <p:cNvPr id="11" name="Shape 9"/>
          <p:cNvSpPr/>
          <p:nvPr/>
        </p:nvSpPr>
        <p:spPr>
          <a:xfrm>
            <a:off x="868680" y="2560320"/>
            <a:ext cx="329184" cy="329184"/>
          </a:xfrm>
          <a:prstGeom prst="ellipse">
            <a:avLst/>
          </a:prstGeom>
          <a:solidFill>
            <a:srgbClr val="DDF0EE"/>
          </a:solidFill>
          <a:ln/>
        </p:spPr>
      </p:sp>
      <p:sp>
        <p:nvSpPr>
          <p:cNvPr id="12" name="Text 10"/>
          <p:cNvSpPr txBox="1"/>
          <p:nvPr/>
        </p:nvSpPr>
        <p:spPr>
          <a:xfrm>
            <a:off x="868680" y="2560320"/>
            <a:ext cx="329184" cy="329184"/>
          </a:xfrm>
          <a:prstGeom prst="rect">
            <a:avLst/>
          </a:prstGeom>
          <a:noFill/>
          <a:ln/>
        </p:spPr>
        <p:txBody>
          <a:bodyPr wrap="square" lIns="0" tIns="0" rIns="0" bIns="0" rtlCol="0" anchor="ctr"/>
          <a:lstStyle/>
          <a:p>
            <a:pPr algn="ctr" indent="0" marL="0">
              <a:buNone/>
            </a:pPr>
            <a:r>
              <a:rPr lang="en-US" sz="1400" b="1" dirty="0">
                <a:solidFill>
                  <a:srgbClr val="0F8480"/>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371600" y="2560320"/>
            <a:ext cx="438912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Motivation and research question</a:t>
            </a:r>
            <a:endParaRPr lang="en-US" sz="1500" dirty="0"/>
          </a:p>
        </p:txBody>
      </p:sp>
      <p:sp>
        <p:nvSpPr>
          <p:cNvPr id="14" name="Shape 12"/>
          <p:cNvSpPr/>
          <p:nvPr/>
        </p:nvSpPr>
        <p:spPr>
          <a:xfrm>
            <a:off x="868680" y="2962656"/>
            <a:ext cx="329184" cy="329184"/>
          </a:xfrm>
          <a:prstGeom prst="ellipse">
            <a:avLst/>
          </a:prstGeom>
          <a:solidFill>
            <a:srgbClr val="DDF0EE"/>
          </a:solidFill>
          <a:ln/>
        </p:spPr>
      </p:sp>
      <p:sp>
        <p:nvSpPr>
          <p:cNvPr id="15" name="Text 13"/>
          <p:cNvSpPr txBox="1"/>
          <p:nvPr/>
        </p:nvSpPr>
        <p:spPr>
          <a:xfrm>
            <a:off x="868680" y="2962656"/>
            <a:ext cx="329184" cy="329184"/>
          </a:xfrm>
          <a:prstGeom prst="rect">
            <a:avLst/>
          </a:prstGeom>
          <a:noFill/>
          <a:ln/>
        </p:spPr>
        <p:txBody>
          <a:bodyPr wrap="square" lIns="0" tIns="0" rIns="0" bIns="0" rtlCol="0" anchor="ctr"/>
          <a:lstStyle/>
          <a:p>
            <a:pPr algn="ctr" indent="0" marL="0">
              <a:buNone/>
            </a:pPr>
            <a:r>
              <a:rPr lang="en-US" sz="1400" b="1" dirty="0">
                <a:solidFill>
                  <a:srgbClr val="0F8480"/>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1371600" y="2962656"/>
            <a:ext cx="438912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Dataset description</a:t>
            </a:r>
            <a:endParaRPr lang="en-US" sz="1500" dirty="0"/>
          </a:p>
        </p:txBody>
      </p:sp>
      <p:sp>
        <p:nvSpPr>
          <p:cNvPr id="17" name="Shape 15"/>
          <p:cNvSpPr/>
          <p:nvPr/>
        </p:nvSpPr>
        <p:spPr>
          <a:xfrm>
            <a:off x="868680" y="3364992"/>
            <a:ext cx="329184" cy="329184"/>
          </a:xfrm>
          <a:prstGeom prst="ellipse">
            <a:avLst/>
          </a:prstGeom>
          <a:solidFill>
            <a:srgbClr val="DDF0EE"/>
          </a:solidFill>
          <a:ln/>
        </p:spPr>
      </p:sp>
      <p:sp>
        <p:nvSpPr>
          <p:cNvPr id="18" name="Text 16"/>
          <p:cNvSpPr txBox="1"/>
          <p:nvPr/>
        </p:nvSpPr>
        <p:spPr>
          <a:xfrm>
            <a:off x="868680" y="3364992"/>
            <a:ext cx="329184" cy="329184"/>
          </a:xfrm>
          <a:prstGeom prst="rect">
            <a:avLst/>
          </a:prstGeom>
          <a:noFill/>
          <a:ln/>
        </p:spPr>
        <p:txBody>
          <a:bodyPr wrap="square" lIns="0" tIns="0" rIns="0" bIns="0" rtlCol="0" anchor="ctr"/>
          <a:lstStyle/>
          <a:p>
            <a:pPr algn="ctr" indent="0" marL="0">
              <a:buNone/>
            </a:pPr>
            <a:r>
              <a:rPr lang="en-US" sz="1400" b="1" dirty="0">
                <a:solidFill>
                  <a:srgbClr val="0F8480"/>
                </a:solidFill>
                <a:latin typeface="Calibri" pitchFamily="34" charset="0"/>
                <a:ea typeface="Calibri" pitchFamily="34" charset="-122"/>
                <a:cs typeface="Calibri" pitchFamily="34" charset="-120"/>
              </a:rPr>
              <a:t>5</a:t>
            </a:r>
            <a:endParaRPr lang="en-US" sz="1400" dirty="0"/>
          </a:p>
        </p:txBody>
      </p:sp>
      <p:sp>
        <p:nvSpPr>
          <p:cNvPr id="19" name="Text 17"/>
          <p:cNvSpPr txBox="1"/>
          <p:nvPr/>
        </p:nvSpPr>
        <p:spPr>
          <a:xfrm>
            <a:off x="1371600" y="3364992"/>
            <a:ext cx="438912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Exploratory data analysis</a:t>
            </a:r>
            <a:endParaRPr lang="en-US" sz="1500" dirty="0"/>
          </a:p>
        </p:txBody>
      </p:sp>
      <p:sp>
        <p:nvSpPr>
          <p:cNvPr id="20" name="Shape 18"/>
          <p:cNvSpPr/>
          <p:nvPr/>
        </p:nvSpPr>
        <p:spPr>
          <a:xfrm>
            <a:off x="868680" y="3767328"/>
            <a:ext cx="329184" cy="329184"/>
          </a:xfrm>
          <a:prstGeom prst="ellipse">
            <a:avLst/>
          </a:prstGeom>
          <a:solidFill>
            <a:srgbClr val="DDF0EE"/>
          </a:solidFill>
          <a:ln/>
        </p:spPr>
      </p:sp>
      <p:sp>
        <p:nvSpPr>
          <p:cNvPr id="21" name="Text 19"/>
          <p:cNvSpPr txBox="1"/>
          <p:nvPr/>
        </p:nvSpPr>
        <p:spPr>
          <a:xfrm>
            <a:off x="868680" y="3767328"/>
            <a:ext cx="329184" cy="329184"/>
          </a:xfrm>
          <a:prstGeom prst="rect">
            <a:avLst/>
          </a:prstGeom>
          <a:noFill/>
          <a:ln/>
        </p:spPr>
        <p:txBody>
          <a:bodyPr wrap="square" lIns="0" tIns="0" rIns="0" bIns="0" rtlCol="0" anchor="ctr"/>
          <a:lstStyle/>
          <a:p>
            <a:pPr algn="ctr" indent="0" marL="0">
              <a:buNone/>
            </a:pPr>
            <a:r>
              <a:rPr lang="en-US" sz="1400" b="1" dirty="0">
                <a:solidFill>
                  <a:srgbClr val="0F8480"/>
                </a:solidFill>
                <a:latin typeface="Calibri" pitchFamily="34" charset="0"/>
                <a:ea typeface="Calibri" pitchFamily="34" charset="-122"/>
                <a:cs typeface="Calibri" pitchFamily="34" charset="-120"/>
              </a:rPr>
              <a:t>6</a:t>
            </a:r>
            <a:endParaRPr lang="en-US" sz="1400" dirty="0"/>
          </a:p>
        </p:txBody>
      </p:sp>
      <p:sp>
        <p:nvSpPr>
          <p:cNvPr id="22" name="Text 20"/>
          <p:cNvSpPr txBox="1"/>
          <p:nvPr/>
        </p:nvSpPr>
        <p:spPr>
          <a:xfrm>
            <a:off x="1371600" y="3767328"/>
            <a:ext cx="438912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Data quality and repeated inputs</a:t>
            </a:r>
            <a:endParaRPr lang="en-US" sz="1500" dirty="0"/>
          </a:p>
        </p:txBody>
      </p:sp>
      <p:sp>
        <p:nvSpPr>
          <p:cNvPr id="23" name="Shape 21"/>
          <p:cNvSpPr/>
          <p:nvPr/>
        </p:nvSpPr>
        <p:spPr>
          <a:xfrm>
            <a:off x="868680" y="4169664"/>
            <a:ext cx="329184" cy="329184"/>
          </a:xfrm>
          <a:prstGeom prst="ellipse">
            <a:avLst/>
          </a:prstGeom>
          <a:solidFill>
            <a:srgbClr val="DDF0EE"/>
          </a:solidFill>
          <a:ln/>
        </p:spPr>
      </p:sp>
      <p:sp>
        <p:nvSpPr>
          <p:cNvPr id="24" name="Text 22"/>
          <p:cNvSpPr txBox="1"/>
          <p:nvPr/>
        </p:nvSpPr>
        <p:spPr>
          <a:xfrm>
            <a:off x="868680" y="4169664"/>
            <a:ext cx="329184" cy="329184"/>
          </a:xfrm>
          <a:prstGeom prst="rect">
            <a:avLst/>
          </a:prstGeom>
          <a:noFill/>
          <a:ln/>
        </p:spPr>
        <p:txBody>
          <a:bodyPr wrap="square" lIns="0" tIns="0" rIns="0" bIns="0" rtlCol="0" anchor="ctr"/>
          <a:lstStyle/>
          <a:p>
            <a:pPr algn="ctr" indent="0" marL="0">
              <a:buNone/>
            </a:pPr>
            <a:r>
              <a:rPr lang="en-US" sz="1400" b="1" dirty="0">
                <a:solidFill>
                  <a:srgbClr val="0F8480"/>
                </a:solidFill>
                <a:latin typeface="Calibri" pitchFamily="34" charset="0"/>
                <a:ea typeface="Calibri" pitchFamily="34" charset="-122"/>
                <a:cs typeface="Calibri" pitchFamily="34" charset="-120"/>
              </a:rPr>
              <a:t>7</a:t>
            </a:r>
            <a:endParaRPr lang="en-US" sz="1400" dirty="0"/>
          </a:p>
        </p:txBody>
      </p:sp>
      <p:sp>
        <p:nvSpPr>
          <p:cNvPr id="25" name="Text 23"/>
          <p:cNvSpPr txBox="1"/>
          <p:nvPr/>
        </p:nvSpPr>
        <p:spPr>
          <a:xfrm>
            <a:off x="1371600" y="4169664"/>
            <a:ext cx="438912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Preprocessing and feature engineering</a:t>
            </a:r>
            <a:endParaRPr lang="en-US" sz="1500" dirty="0"/>
          </a:p>
        </p:txBody>
      </p:sp>
      <p:sp>
        <p:nvSpPr>
          <p:cNvPr id="26" name="Shape 24"/>
          <p:cNvSpPr/>
          <p:nvPr/>
        </p:nvSpPr>
        <p:spPr>
          <a:xfrm>
            <a:off x="868680" y="4572000"/>
            <a:ext cx="329184" cy="329184"/>
          </a:xfrm>
          <a:prstGeom prst="ellipse">
            <a:avLst/>
          </a:prstGeom>
          <a:solidFill>
            <a:srgbClr val="DDF0EE"/>
          </a:solidFill>
          <a:ln/>
        </p:spPr>
      </p:sp>
      <p:sp>
        <p:nvSpPr>
          <p:cNvPr id="27" name="Text 25"/>
          <p:cNvSpPr txBox="1"/>
          <p:nvPr/>
        </p:nvSpPr>
        <p:spPr>
          <a:xfrm>
            <a:off x="868680" y="4572000"/>
            <a:ext cx="329184" cy="329184"/>
          </a:xfrm>
          <a:prstGeom prst="rect">
            <a:avLst/>
          </a:prstGeom>
          <a:noFill/>
          <a:ln/>
        </p:spPr>
        <p:txBody>
          <a:bodyPr wrap="square" lIns="0" tIns="0" rIns="0" bIns="0" rtlCol="0" anchor="ctr"/>
          <a:lstStyle/>
          <a:p>
            <a:pPr algn="ctr" indent="0" marL="0">
              <a:buNone/>
            </a:pPr>
            <a:r>
              <a:rPr lang="en-US" sz="1400" b="1" dirty="0">
                <a:solidFill>
                  <a:srgbClr val="0F8480"/>
                </a:solidFill>
                <a:latin typeface="Calibri" pitchFamily="34" charset="0"/>
                <a:ea typeface="Calibri" pitchFamily="34" charset="-122"/>
                <a:cs typeface="Calibri" pitchFamily="34" charset="-120"/>
              </a:rPr>
              <a:t>8</a:t>
            </a:r>
            <a:endParaRPr lang="en-US" sz="1400" dirty="0"/>
          </a:p>
        </p:txBody>
      </p:sp>
      <p:sp>
        <p:nvSpPr>
          <p:cNvPr id="28" name="Text 26"/>
          <p:cNvSpPr txBox="1"/>
          <p:nvPr/>
        </p:nvSpPr>
        <p:spPr>
          <a:xfrm>
            <a:off x="1371600" y="4572000"/>
            <a:ext cx="438912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Evaluation design</a:t>
            </a:r>
            <a:endParaRPr lang="en-US" sz="1500" dirty="0"/>
          </a:p>
        </p:txBody>
      </p:sp>
      <p:sp>
        <p:nvSpPr>
          <p:cNvPr id="29" name="Shape 27"/>
          <p:cNvSpPr/>
          <p:nvPr/>
        </p:nvSpPr>
        <p:spPr>
          <a:xfrm>
            <a:off x="868680" y="4974336"/>
            <a:ext cx="329184" cy="329184"/>
          </a:xfrm>
          <a:prstGeom prst="ellipse">
            <a:avLst/>
          </a:prstGeom>
          <a:solidFill>
            <a:srgbClr val="DDF0EE"/>
          </a:solidFill>
          <a:ln/>
        </p:spPr>
      </p:sp>
      <p:sp>
        <p:nvSpPr>
          <p:cNvPr id="30" name="Text 28"/>
          <p:cNvSpPr txBox="1"/>
          <p:nvPr/>
        </p:nvSpPr>
        <p:spPr>
          <a:xfrm>
            <a:off x="868680" y="4974336"/>
            <a:ext cx="329184" cy="329184"/>
          </a:xfrm>
          <a:prstGeom prst="rect">
            <a:avLst/>
          </a:prstGeom>
          <a:noFill/>
          <a:ln/>
        </p:spPr>
        <p:txBody>
          <a:bodyPr wrap="square" lIns="0" tIns="0" rIns="0" bIns="0" rtlCol="0" anchor="ctr"/>
          <a:lstStyle/>
          <a:p>
            <a:pPr algn="ctr" indent="0" marL="0">
              <a:buNone/>
            </a:pPr>
            <a:r>
              <a:rPr lang="en-US" sz="1400" b="1" dirty="0">
                <a:solidFill>
                  <a:srgbClr val="0F8480"/>
                </a:solidFill>
                <a:latin typeface="Calibri" pitchFamily="34" charset="0"/>
                <a:ea typeface="Calibri" pitchFamily="34" charset="-122"/>
                <a:cs typeface="Calibri" pitchFamily="34" charset="-120"/>
              </a:rPr>
              <a:t>9</a:t>
            </a:r>
            <a:endParaRPr lang="en-US" sz="1400" dirty="0"/>
          </a:p>
        </p:txBody>
      </p:sp>
      <p:sp>
        <p:nvSpPr>
          <p:cNvPr id="31" name="Text 29"/>
          <p:cNvSpPr txBox="1"/>
          <p:nvPr/>
        </p:nvSpPr>
        <p:spPr>
          <a:xfrm>
            <a:off x="1371600" y="4974336"/>
            <a:ext cx="438912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Models: ML and deep learning</a:t>
            </a:r>
            <a:endParaRPr lang="en-US" sz="1500" dirty="0"/>
          </a:p>
        </p:txBody>
      </p:sp>
      <p:sp>
        <p:nvSpPr>
          <p:cNvPr id="32" name="Text 30"/>
          <p:cNvSpPr txBox="1"/>
          <p:nvPr/>
        </p:nvSpPr>
        <p:spPr>
          <a:xfrm>
            <a:off x="868680" y="5806440"/>
            <a:ext cx="4754880" cy="274320"/>
          </a:xfrm>
          <a:prstGeom prst="rect">
            <a:avLst/>
          </a:prstGeom>
          <a:noFill/>
          <a:ln/>
        </p:spPr>
        <p:txBody>
          <a:bodyPr wrap="square" lIns="0" tIns="0" rIns="0" bIns="0" rtlCol="0" anchor="ctr"/>
          <a:lstStyle/>
          <a:p>
            <a:pPr indent="0" marL="0">
              <a:buNone/>
            </a:pPr>
            <a:r>
              <a:rPr lang="en-US" sz="1200" i="1" dirty="0">
                <a:solidFill>
                  <a:srgbClr val="5B6770"/>
                </a:solidFill>
                <a:latin typeface="Calibri" pitchFamily="34" charset="0"/>
                <a:ea typeface="Calibri" pitchFamily="34" charset="-122"/>
                <a:cs typeface="Calibri" pitchFamily="34" charset="-120"/>
              </a:rPr>
              <a:t>Slides 3–9  ·  ≈ 5.5 min</a:t>
            </a:r>
            <a:endParaRPr lang="en-US" sz="1200" dirty="0"/>
          </a:p>
        </p:txBody>
      </p:sp>
      <p:sp>
        <p:nvSpPr>
          <p:cNvPr id="33" name="Shape 31"/>
          <p:cNvSpPr/>
          <p:nvPr/>
        </p:nvSpPr>
        <p:spPr>
          <a:xfrm>
            <a:off x="6217920" y="1691640"/>
            <a:ext cx="5394960" cy="4480560"/>
          </a:xfrm>
          <a:prstGeom prst="roundRect">
            <a:avLst>
              <a:gd name="adj" fmla="val 1633"/>
            </a:avLst>
          </a:prstGeom>
          <a:solidFill>
            <a:srgbClr val="FFFFFF"/>
          </a:solidFill>
          <a:ln w="9525">
            <a:solidFill>
              <a:srgbClr val="D5DDE5"/>
            </a:solidFill>
            <a:prstDash val="solid"/>
          </a:ln>
        </p:spPr>
      </p:sp>
      <p:sp>
        <p:nvSpPr>
          <p:cNvPr id="34" name="Shape 32"/>
          <p:cNvSpPr/>
          <p:nvPr/>
        </p:nvSpPr>
        <p:spPr>
          <a:xfrm>
            <a:off x="6492240" y="1920240"/>
            <a:ext cx="1737360" cy="411480"/>
          </a:xfrm>
          <a:prstGeom prst="roundRect">
            <a:avLst>
              <a:gd name="adj" fmla="val 48889"/>
            </a:avLst>
          </a:prstGeom>
          <a:solidFill>
            <a:srgbClr val="DCA84B"/>
          </a:solidFill>
          <a:ln/>
        </p:spPr>
      </p:sp>
      <p:sp>
        <p:nvSpPr>
          <p:cNvPr id="35" name="Text 33"/>
          <p:cNvSpPr txBox="1"/>
          <p:nvPr/>
        </p:nvSpPr>
        <p:spPr>
          <a:xfrm>
            <a:off x="6492240" y="1920240"/>
            <a:ext cx="1737360" cy="411480"/>
          </a:xfrm>
          <a:prstGeom prst="rect">
            <a:avLst/>
          </a:prstGeom>
          <a:noFill/>
          <a:ln/>
        </p:spPr>
        <p:txBody>
          <a:bodyPr wrap="square" lIns="0" tIns="0" rIns="0" bIns="0" rtlCol="0" anchor="ctr"/>
          <a:lstStyle/>
          <a:p>
            <a:pPr algn="ctr" indent="0" marL="0">
              <a:buNone/>
            </a:pPr>
            <a:r>
              <a:rPr lang="en-US" sz="1300" b="1" dirty="0">
                <a:solidFill>
                  <a:srgbClr val="10213A"/>
                </a:solidFill>
                <a:latin typeface="Calibri" pitchFamily="34" charset="0"/>
                <a:ea typeface="Calibri" pitchFamily="34" charset="-122"/>
                <a:cs typeface="Calibri" pitchFamily="34" charset="-120"/>
              </a:rPr>
              <a:t>Presenter B</a:t>
            </a:r>
            <a:endParaRPr lang="en-US" sz="1300" dirty="0"/>
          </a:p>
        </p:txBody>
      </p:sp>
      <p:sp>
        <p:nvSpPr>
          <p:cNvPr id="36" name="Text 34"/>
          <p:cNvSpPr txBox="1"/>
          <p:nvPr/>
        </p:nvSpPr>
        <p:spPr>
          <a:xfrm>
            <a:off x="8412480" y="1920240"/>
            <a:ext cx="3017520" cy="411480"/>
          </a:xfrm>
          <a:prstGeom prst="rect">
            <a:avLst/>
          </a:prstGeom>
          <a:noFill/>
          <a:ln/>
        </p:spPr>
        <p:txBody>
          <a:bodyPr wrap="square" lIns="0" tIns="0" rIns="0" bIns="0" rtlCol="0" anchor="ctr"/>
          <a:lstStyle/>
          <a:p>
            <a:pPr indent="0" marL="0">
              <a:buNone/>
            </a:pPr>
            <a:r>
              <a:rPr lang="en-US" sz="1500" b="1" dirty="0">
                <a:solidFill>
                  <a:srgbClr val="10213A"/>
                </a:solidFill>
                <a:latin typeface="Calibri" pitchFamily="34" charset="0"/>
                <a:ea typeface="Calibri" pitchFamily="34" charset="-122"/>
                <a:cs typeface="Calibri" pitchFamily="34" charset="-120"/>
              </a:rPr>
              <a:t>[Presenter B name]</a:t>
            </a:r>
            <a:endParaRPr lang="en-US" sz="1500" dirty="0"/>
          </a:p>
        </p:txBody>
      </p:sp>
      <p:sp>
        <p:nvSpPr>
          <p:cNvPr id="37" name="Shape 35"/>
          <p:cNvSpPr/>
          <p:nvPr/>
        </p:nvSpPr>
        <p:spPr>
          <a:xfrm>
            <a:off x="6537960" y="2560320"/>
            <a:ext cx="329184" cy="329184"/>
          </a:xfrm>
          <a:prstGeom prst="ellipse">
            <a:avLst/>
          </a:prstGeom>
          <a:solidFill>
            <a:srgbClr val="DDF0EE"/>
          </a:solidFill>
          <a:ln/>
        </p:spPr>
      </p:sp>
      <p:sp>
        <p:nvSpPr>
          <p:cNvPr id="38" name="Text 36"/>
          <p:cNvSpPr txBox="1"/>
          <p:nvPr/>
        </p:nvSpPr>
        <p:spPr>
          <a:xfrm>
            <a:off x="6537960" y="2560320"/>
            <a:ext cx="329184" cy="329184"/>
          </a:xfrm>
          <a:prstGeom prst="rect">
            <a:avLst/>
          </a:prstGeom>
          <a:noFill/>
          <a:ln/>
        </p:spPr>
        <p:txBody>
          <a:bodyPr wrap="square" lIns="0" tIns="0" rIns="0" bIns="0" rtlCol="0" anchor="ctr"/>
          <a:lstStyle/>
          <a:p>
            <a:pPr algn="ctr" indent="0" marL="0">
              <a:buNone/>
            </a:pPr>
            <a:r>
              <a:rPr lang="en-US" sz="1400" b="1" dirty="0">
                <a:solidFill>
                  <a:srgbClr val="0F8480"/>
                </a:solidFill>
                <a:latin typeface="Calibri" pitchFamily="34" charset="0"/>
                <a:ea typeface="Calibri" pitchFamily="34" charset="-122"/>
                <a:cs typeface="Calibri" pitchFamily="34" charset="-120"/>
              </a:rPr>
              <a:t>10</a:t>
            </a:r>
            <a:endParaRPr lang="en-US" sz="1400" dirty="0"/>
          </a:p>
        </p:txBody>
      </p:sp>
      <p:sp>
        <p:nvSpPr>
          <p:cNvPr id="39" name="Text 37"/>
          <p:cNvSpPr txBox="1"/>
          <p:nvPr/>
        </p:nvSpPr>
        <p:spPr>
          <a:xfrm>
            <a:off x="7040880" y="2560320"/>
            <a:ext cx="438912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Cross-validation model selection</a:t>
            </a:r>
            <a:endParaRPr lang="en-US" sz="1500" dirty="0"/>
          </a:p>
        </p:txBody>
      </p:sp>
      <p:sp>
        <p:nvSpPr>
          <p:cNvPr id="40" name="Shape 38"/>
          <p:cNvSpPr/>
          <p:nvPr/>
        </p:nvSpPr>
        <p:spPr>
          <a:xfrm>
            <a:off x="6537960" y="2962656"/>
            <a:ext cx="329184" cy="329184"/>
          </a:xfrm>
          <a:prstGeom prst="ellipse">
            <a:avLst/>
          </a:prstGeom>
          <a:solidFill>
            <a:srgbClr val="DDF0EE"/>
          </a:solidFill>
          <a:ln/>
        </p:spPr>
      </p:sp>
      <p:sp>
        <p:nvSpPr>
          <p:cNvPr id="41" name="Text 39"/>
          <p:cNvSpPr txBox="1"/>
          <p:nvPr/>
        </p:nvSpPr>
        <p:spPr>
          <a:xfrm>
            <a:off x="6537960" y="2962656"/>
            <a:ext cx="329184" cy="329184"/>
          </a:xfrm>
          <a:prstGeom prst="rect">
            <a:avLst/>
          </a:prstGeom>
          <a:noFill/>
          <a:ln/>
        </p:spPr>
        <p:txBody>
          <a:bodyPr wrap="square" lIns="0" tIns="0" rIns="0" bIns="0" rtlCol="0" anchor="ctr"/>
          <a:lstStyle/>
          <a:p>
            <a:pPr algn="ctr" indent="0" marL="0">
              <a:buNone/>
            </a:pPr>
            <a:r>
              <a:rPr lang="en-US" sz="1400" b="1" dirty="0">
                <a:solidFill>
                  <a:srgbClr val="0F8480"/>
                </a:solidFill>
                <a:latin typeface="Calibri" pitchFamily="34" charset="0"/>
                <a:ea typeface="Calibri" pitchFamily="34" charset="-122"/>
                <a:cs typeface="Calibri" pitchFamily="34" charset="-120"/>
              </a:rPr>
              <a:t>11</a:t>
            </a:r>
            <a:endParaRPr lang="en-US" sz="1400" dirty="0"/>
          </a:p>
        </p:txBody>
      </p:sp>
      <p:sp>
        <p:nvSpPr>
          <p:cNvPr id="42" name="Text 40"/>
          <p:cNvSpPr txBox="1"/>
          <p:nvPr/>
        </p:nvSpPr>
        <p:spPr>
          <a:xfrm>
            <a:off x="7040880" y="2962656"/>
            <a:ext cx="438912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Held-out test performance</a:t>
            </a:r>
            <a:endParaRPr lang="en-US" sz="1500" dirty="0"/>
          </a:p>
        </p:txBody>
      </p:sp>
      <p:sp>
        <p:nvSpPr>
          <p:cNvPr id="43" name="Shape 41"/>
          <p:cNvSpPr/>
          <p:nvPr/>
        </p:nvSpPr>
        <p:spPr>
          <a:xfrm>
            <a:off x="6537960" y="3364992"/>
            <a:ext cx="329184" cy="329184"/>
          </a:xfrm>
          <a:prstGeom prst="ellipse">
            <a:avLst/>
          </a:prstGeom>
          <a:solidFill>
            <a:srgbClr val="DDF0EE"/>
          </a:solidFill>
          <a:ln/>
        </p:spPr>
      </p:sp>
      <p:sp>
        <p:nvSpPr>
          <p:cNvPr id="44" name="Text 42"/>
          <p:cNvSpPr txBox="1"/>
          <p:nvPr/>
        </p:nvSpPr>
        <p:spPr>
          <a:xfrm>
            <a:off x="6537960" y="3364992"/>
            <a:ext cx="329184" cy="329184"/>
          </a:xfrm>
          <a:prstGeom prst="rect">
            <a:avLst/>
          </a:prstGeom>
          <a:noFill/>
          <a:ln/>
        </p:spPr>
        <p:txBody>
          <a:bodyPr wrap="square" lIns="0" tIns="0" rIns="0" bIns="0" rtlCol="0" anchor="ctr"/>
          <a:lstStyle/>
          <a:p>
            <a:pPr algn="ctr" indent="0" marL="0">
              <a:buNone/>
            </a:pPr>
            <a:r>
              <a:rPr lang="en-US" sz="1400" b="1" dirty="0">
                <a:solidFill>
                  <a:srgbClr val="0F8480"/>
                </a:solidFill>
                <a:latin typeface="Calibri" pitchFamily="34" charset="0"/>
                <a:ea typeface="Calibri" pitchFamily="34" charset="-122"/>
                <a:cs typeface="Calibri" pitchFamily="34" charset="-120"/>
              </a:rPr>
              <a:t>12</a:t>
            </a:r>
            <a:endParaRPr lang="en-US" sz="1400" dirty="0"/>
          </a:p>
        </p:txBody>
      </p:sp>
      <p:sp>
        <p:nvSpPr>
          <p:cNvPr id="45" name="Text 43"/>
          <p:cNvSpPr txBox="1"/>
          <p:nvPr/>
        </p:nvSpPr>
        <p:spPr>
          <a:xfrm>
            <a:off x="7040880" y="3364992"/>
            <a:ext cx="438912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ROC curves</a:t>
            </a:r>
            <a:endParaRPr lang="en-US" sz="1500" dirty="0"/>
          </a:p>
        </p:txBody>
      </p:sp>
      <p:sp>
        <p:nvSpPr>
          <p:cNvPr id="46" name="Shape 44"/>
          <p:cNvSpPr/>
          <p:nvPr/>
        </p:nvSpPr>
        <p:spPr>
          <a:xfrm>
            <a:off x="6537960" y="3767328"/>
            <a:ext cx="329184" cy="329184"/>
          </a:xfrm>
          <a:prstGeom prst="ellipse">
            <a:avLst/>
          </a:prstGeom>
          <a:solidFill>
            <a:srgbClr val="DDF0EE"/>
          </a:solidFill>
          <a:ln/>
        </p:spPr>
      </p:sp>
      <p:sp>
        <p:nvSpPr>
          <p:cNvPr id="47" name="Text 45"/>
          <p:cNvSpPr txBox="1"/>
          <p:nvPr/>
        </p:nvSpPr>
        <p:spPr>
          <a:xfrm>
            <a:off x="6537960" y="3767328"/>
            <a:ext cx="329184" cy="329184"/>
          </a:xfrm>
          <a:prstGeom prst="rect">
            <a:avLst/>
          </a:prstGeom>
          <a:noFill/>
          <a:ln/>
        </p:spPr>
        <p:txBody>
          <a:bodyPr wrap="square" lIns="0" tIns="0" rIns="0" bIns="0" rtlCol="0" anchor="ctr"/>
          <a:lstStyle/>
          <a:p>
            <a:pPr algn="ctr" indent="0" marL="0">
              <a:buNone/>
            </a:pPr>
            <a:r>
              <a:rPr lang="en-US" sz="1400" b="1" dirty="0">
                <a:solidFill>
                  <a:srgbClr val="0F8480"/>
                </a:solidFill>
                <a:latin typeface="Calibri" pitchFamily="34" charset="0"/>
                <a:ea typeface="Calibri" pitchFamily="34" charset="-122"/>
                <a:cs typeface="Calibri" pitchFamily="34" charset="-120"/>
              </a:rPr>
              <a:t>13</a:t>
            </a:r>
            <a:endParaRPr lang="en-US" sz="1400" dirty="0"/>
          </a:p>
        </p:txBody>
      </p:sp>
      <p:sp>
        <p:nvSpPr>
          <p:cNvPr id="48" name="Text 46"/>
          <p:cNvSpPr txBox="1"/>
          <p:nvPr/>
        </p:nvSpPr>
        <p:spPr>
          <a:xfrm>
            <a:off x="7040880" y="3767328"/>
            <a:ext cx="438912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Error analysis (confusion matrix)</a:t>
            </a:r>
            <a:endParaRPr lang="en-US" sz="1500" dirty="0"/>
          </a:p>
        </p:txBody>
      </p:sp>
      <p:sp>
        <p:nvSpPr>
          <p:cNvPr id="49" name="Shape 47"/>
          <p:cNvSpPr/>
          <p:nvPr/>
        </p:nvSpPr>
        <p:spPr>
          <a:xfrm>
            <a:off x="6537960" y="4169664"/>
            <a:ext cx="329184" cy="329184"/>
          </a:xfrm>
          <a:prstGeom prst="ellipse">
            <a:avLst/>
          </a:prstGeom>
          <a:solidFill>
            <a:srgbClr val="DDF0EE"/>
          </a:solidFill>
          <a:ln/>
        </p:spPr>
      </p:sp>
      <p:sp>
        <p:nvSpPr>
          <p:cNvPr id="50" name="Text 48"/>
          <p:cNvSpPr txBox="1"/>
          <p:nvPr/>
        </p:nvSpPr>
        <p:spPr>
          <a:xfrm>
            <a:off x="6537960" y="4169664"/>
            <a:ext cx="329184" cy="329184"/>
          </a:xfrm>
          <a:prstGeom prst="rect">
            <a:avLst/>
          </a:prstGeom>
          <a:noFill/>
          <a:ln/>
        </p:spPr>
        <p:txBody>
          <a:bodyPr wrap="square" lIns="0" tIns="0" rIns="0" bIns="0" rtlCol="0" anchor="ctr"/>
          <a:lstStyle/>
          <a:p>
            <a:pPr algn="ctr" indent="0" marL="0">
              <a:buNone/>
            </a:pPr>
            <a:r>
              <a:rPr lang="en-US" sz="1400" b="1" dirty="0">
                <a:solidFill>
                  <a:srgbClr val="0F8480"/>
                </a:solidFill>
                <a:latin typeface="Calibri" pitchFamily="34" charset="0"/>
                <a:ea typeface="Calibri" pitchFamily="34" charset="-122"/>
                <a:cs typeface="Calibri" pitchFamily="34" charset="-120"/>
              </a:rPr>
              <a:t>14</a:t>
            </a:r>
            <a:endParaRPr lang="en-US" sz="1400" dirty="0"/>
          </a:p>
        </p:txBody>
      </p:sp>
      <p:sp>
        <p:nvSpPr>
          <p:cNvPr id="51" name="Text 49"/>
          <p:cNvSpPr txBox="1"/>
          <p:nvPr/>
        </p:nvSpPr>
        <p:spPr>
          <a:xfrm>
            <a:off x="7040880" y="4169664"/>
            <a:ext cx="438912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Statistical significance</a:t>
            </a:r>
            <a:endParaRPr lang="en-US" sz="1500" dirty="0"/>
          </a:p>
        </p:txBody>
      </p:sp>
      <p:sp>
        <p:nvSpPr>
          <p:cNvPr id="52" name="Shape 50"/>
          <p:cNvSpPr/>
          <p:nvPr/>
        </p:nvSpPr>
        <p:spPr>
          <a:xfrm>
            <a:off x="6537960" y="4572000"/>
            <a:ext cx="329184" cy="329184"/>
          </a:xfrm>
          <a:prstGeom prst="ellipse">
            <a:avLst/>
          </a:prstGeom>
          <a:solidFill>
            <a:srgbClr val="DDF0EE"/>
          </a:solidFill>
          <a:ln/>
        </p:spPr>
      </p:sp>
      <p:sp>
        <p:nvSpPr>
          <p:cNvPr id="53" name="Text 51"/>
          <p:cNvSpPr txBox="1"/>
          <p:nvPr/>
        </p:nvSpPr>
        <p:spPr>
          <a:xfrm>
            <a:off x="6537960" y="4572000"/>
            <a:ext cx="329184" cy="329184"/>
          </a:xfrm>
          <a:prstGeom prst="rect">
            <a:avLst/>
          </a:prstGeom>
          <a:noFill/>
          <a:ln/>
        </p:spPr>
        <p:txBody>
          <a:bodyPr wrap="square" lIns="0" tIns="0" rIns="0" bIns="0" rtlCol="0" anchor="ctr"/>
          <a:lstStyle/>
          <a:p>
            <a:pPr algn="ctr" indent="0" marL="0">
              <a:buNone/>
            </a:pPr>
            <a:r>
              <a:rPr lang="en-US" sz="1400" b="1" dirty="0">
                <a:solidFill>
                  <a:srgbClr val="0F8480"/>
                </a:solidFill>
                <a:latin typeface="Calibri" pitchFamily="34" charset="0"/>
                <a:ea typeface="Calibri" pitchFamily="34" charset="-122"/>
                <a:cs typeface="Calibri" pitchFamily="34" charset="-120"/>
              </a:rPr>
              <a:t>15</a:t>
            </a:r>
            <a:endParaRPr lang="en-US" sz="1400" dirty="0"/>
          </a:p>
        </p:txBody>
      </p:sp>
      <p:sp>
        <p:nvSpPr>
          <p:cNvPr id="54" name="Text 52"/>
          <p:cNvSpPr txBox="1"/>
          <p:nvPr/>
        </p:nvSpPr>
        <p:spPr>
          <a:xfrm>
            <a:off x="7040880" y="4572000"/>
            <a:ext cx="438912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Deep learning: what we learned</a:t>
            </a:r>
            <a:endParaRPr lang="en-US" sz="1500" dirty="0"/>
          </a:p>
        </p:txBody>
      </p:sp>
      <p:sp>
        <p:nvSpPr>
          <p:cNvPr id="55" name="Shape 53"/>
          <p:cNvSpPr/>
          <p:nvPr/>
        </p:nvSpPr>
        <p:spPr>
          <a:xfrm>
            <a:off x="6537960" y="4974336"/>
            <a:ext cx="329184" cy="329184"/>
          </a:xfrm>
          <a:prstGeom prst="ellipse">
            <a:avLst/>
          </a:prstGeom>
          <a:solidFill>
            <a:srgbClr val="DDF0EE"/>
          </a:solidFill>
          <a:ln/>
        </p:spPr>
      </p:sp>
      <p:sp>
        <p:nvSpPr>
          <p:cNvPr id="56" name="Text 54"/>
          <p:cNvSpPr txBox="1"/>
          <p:nvPr/>
        </p:nvSpPr>
        <p:spPr>
          <a:xfrm>
            <a:off x="6537960" y="4974336"/>
            <a:ext cx="329184" cy="329184"/>
          </a:xfrm>
          <a:prstGeom prst="rect">
            <a:avLst/>
          </a:prstGeom>
          <a:noFill/>
          <a:ln/>
        </p:spPr>
        <p:txBody>
          <a:bodyPr wrap="square" lIns="0" tIns="0" rIns="0" bIns="0" rtlCol="0" anchor="ctr"/>
          <a:lstStyle/>
          <a:p>
            <a:pPr algn="ctr" indent="0" marL="0">
              <a:buNone/>
            </a:pPr>
            <a:r>
              <a:rPr lang="en-US" sz="1400" b="1" dirty="0">
                <a:solidFill>
                  <a:srgbClr val="0F8480"/>
                </a:solidFill>
                <a:latin typeface="Calibri" pitchFamily="34" charset="0"/>
                <a:ea typeface="Calibri" pitchFamily="34" charset="-122"/>
                <a:cs typeface="Calibri" pitchFamily="34" charset="-120"/>
              </a:rPr>
              <a:t>16</a:t>
            </a:r>
            <a:endParaRPr lang="en-US" sz="1400" dirty="0"/>
          </a:p>
        </p:txBody>
      </p:sp>
      <p:sp>
        <p:nvSpPr>
          <p:cNvPr id="57" name="Text 55"/>
          <p:cNvSpPr txBox="1"/>
          <p:nvPr/>
        </p:nvSpPr>
        <p:spPr>
          <a:xfrm>
            <a:off x="7040880" y="4974336"/>
            <a:ext cx="438912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Explainability and feature selection</a:t>
            </a:r>
            <a:endParaRPr lang="en-US" sz="1500" dirty="0"/>
          </a:p>
        </p:txBody>
      </p:sp>
      <p:sp>
        <p:nvSpPr>
          <p:cNvPr id="58" name="Shape 56"/>
          <p:cNvSpPr/>
          <p:nvPr/>
        </p:nvSpPr>
        <p:spPr>
          <a:xfrm>
            <a:off x="6537960" y="5376672"/>
            <a:ext cx="329184" cy="329184"/>
          </a:xfrm>
          <a:prstGeom prst="ellipse">
            <a:avLst/>
          </a:prstGeom>
          <a:solidFill>
            <a:srgbClr val="DDF0EE"/>
          </a:solidFill>
          <a:ln/>
        </p:spPr>
      </p:sp>
      <p:sp>
        <p:nvSpPr>
          <p:cNvPr id="59" name="Text 57"/>
          <p:cNvSpPr txBox="1"/>
          <p:nvPr/>
        </p:nvSpPr>
        <p:spPr>
          <a:xfrm>
            <a:off x="6537960" y="5376672"/>
            <a:ext cx="329184" cy="329184"/>
          </a:xfrm>
          <a:prstGeom prst="rect">
            <a:avLst/>
          </a:prstGeom>
          <a:noFill/>
          <a:ln/>
        </p:spPr>
        <p:txBody>
          <a:bodyPr wrap="square" lIns="0" tIns="0" rIns="0" bIns="0" rtlCol="0" anchor="ctr"/>
          <a:lstStyle/>
          <a:p>
            <a:pPr algn="ctr" indent="0" marL="0">
              <a:buNone/>
            </a:pPr>
            <a:r>
              <a:rPr lang="en-US" sz="1400" b="1" dirty="0">
                <a:solidFill>
                  <a:srgbClr val="0F8480"/>
                </a:solidFill>
                <a:latin typeface="Calibri" pitchFamily="34" charset="0"/>
                <a:ea typeface="Calibri" pitchFamily="34" charset="-122"/>
                <a:cs typeface="Calibri" pitchFamily="34" charset="-120"/>
              </a:rPr>
              <a:t>17</a:t>
            </a:r>
            <a:endParaRPr lang="en-US" sz="1400" dirty="0"/>
          </a:p>
        </p:txBody>
      </p:sp>
      <p:sp>
        <p:nvSpPr>
          <p:cNvPr id="60" name="Text 58"/>
          <p:cNvSpPr txBox="1"/>
          <p:nvPr/>
        </p:nvSpPr>
        <p:spPr>
          <a:xfrm>
            <a:off x="7040880" y="5376672"/>
            <a:ext cx="4389120" cy="329184"/>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Conclusion, limits and future work</a:t>
            </a:r>
            <a:endParaRPr lang="en-US" sz="1500" dirty="0"/>
          </a:p>
        </p:txBody>
      </p:sp>
      <p:sp>
        <p:nvSpPr>
          <p:cNvPr id="61" name="Text 59"/>
          <p:cNvSpPr txBox="1"/>
          <p:nvPr/>
        </p:nvSpPr>
        <p:spPr>
          <a:xfrm>
            <a:off x="6537960" y="5806440"/>
            <a:ext cx="4754880" cy="274320"/>
          </a:xfrm>
          <a:prstGeom prst="rect">
            <a:avLst/>
          </a:prstGeom>
          <a:noFill/>
          <a:ln/>
        </p:spPr>
        <p:txBody>
          <a:bodyPr wrap="square" lIns="0" tIns="0" rIns="0" bIns="0" rtlCol="0" anchor="ctr"/>
          <a:lstStyle/>
          <a:p>
            <a:pPr indent="0" marL="0">
              <a:buNone/>
            </a:pPr>
            <a:r>
              <a:rPr lang="en-US" sz="1200" i="1" dirty="0">
                <a:solidFill>
                  <a:srgbClr val="5B6770"/>
                </a:solidFill>
                <a:latin typeface="Calibri" pitchFamily="34" charset="0"/>
                <a:ea typeface="Calibri" pitchFamily="34" charset="-122"/>
                <a:cs typeface="Calibri" pitchFamily="34" charset="-120"/>
              </a:rPr>
              <a:t>Slides 10–18  ·  ≈ 5.5 min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Why phishing detection?</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A high-volume attack where each type of error has a different cost</a:t>
            </a:r>
            <a:endParaRPr lang="en-US" sz="1600" dirty="0"/>
          </a:p>
        </p:txBody>
      </p:sp>
      <p:sp>
        <p:nvSpPr>
          <p:cNvPr id="4" name="Shape 2"/>
          <p:cNvSpPr/>
          <p:nvPr/>
        </p:nvSpPr>
        <p:spPr>
          <a:xfrm>
            <a:off x="10104120" y="384048"/>
            <a:ext cx="1554480" cy="384048"/>
          </a:xfrm>
          <a:prstGeom prst="roundRect">
            <a:avLst>
              <a:gd name="adj" fmla="val 50000"/>
            </a:avLst>
          </a:prstGeom>
          <a:solidFill>
            <a:srgbClr val="0F8480"/>
          </a:solidFill>
          <a:ln/>
        </p:spPr>
      </p:sp>
      <p:sp>
        <p:nvSpPr>
          <p:cNvPr id="5" name="Text 3"/>
          <p:cNvSpPr txBox="1"/>
          <p:nvPr/>
        </p:nvSpPr>
        <p:spPr>
          <a:xfrm>
            <a:off x="10104120" y="384048"/>
            <a:ext cx="15544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Presenter A</a:t>
            </a:r>
            <a:endParaRPr lang="en-US" sz="1200" dirty="0"/>
          </a:p>
        </p:txBody>
      </p:sp>
      <p:sp>
        <p:nvSpPr>
          <p:cNvPr id="6" name="Text 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03</a:t>
            </a:r>
            <a:endParaRPr lang="en-US" sz="1000" dirty="0"/>
          </a:p>
        </p:txBody>
      </p:sp>
      <p:sp>
        <p:nvSpPr>
          <p:cNvPr id="7" name="Text 5"/>
          <p:cNvSpPr txBox="1"/>
          <p:nvPr/>
        </p:nvSpPr>
        <p:spPr>
          <a:xfrm>
            <a:off x="548640" y="1737360"/>
            <a:ext cx="4206240" cy="731520"/>
          </a:xfrm>
          <a:prstGeom prst="rect">
            <a:avLst/>
          </a:prstGeom>
          <a:noFill/>
          <a:ln/>
        </p:spPr>
        <p:txBody>
          <a:bodyPr wrap="square" lIns="0" tIns="0" rIns="0" bIns="0" rtlCol="0" anchor="ctr"/>
          <a:lstStyle/>
          <a:p>
            <a:pPr indent="0" marL="0">
              <a:buNone/>
            </a:pPr>
            <a:r>
              <a:rPr lang="en-US" sz="4800" b="1" dirty="0">
                <a:solidFill>
                  <a:srgbClr val="C0463C"/>
                </a:solidFill>
                <a:latin typeface="Calibri" pitchFamily="34" charset="0"/>
                <a:ea typeface="Calibri" pitchFamily="34" charset="-122"/>
                <a:cs typeface="Calibri" pitchFamily="34" charset="-120"/>
              </a:rPr>
              <a:t>3.8 million</a:t>
            </a:r>
            <a:endParaRPr lang="en-US" sz="4800" dirty="0"/>
          </a:p>
        </p:txBody>
      </p:sp>
      <p:sp>
        <p:nvSpPr>
          <p:cNvPr id="8" name="Text 6"/>
          <p:cNvSpPr txBox="1"/>
          <p:nvPr/>
        </p:nvSpPr>
        <p:spPr>
          <a:xfrm>
            <a:off x="548640" y="2468880"/>
            <a:ext cx="4206240" cy="5486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phishing attacks observed by APWG in 2025</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(853,244 in Q4 alone)</a:t>
            </a:r>
            <a:endParaRPr lang="en-US" sz="1400" dirty="0"/>
          </a:p>
        </p:txBody>
      </p:sp>
      <p:sp>
        <p:nvSpPr>
          <p:cNvPr id="9" name="Shape 7"/>
          <p:cNvSpPr/>
          <p:nvPr/>
        </p:nvSpPr>
        <p:spPr>
          <a:xfrm>
            <a:off x="5212080" y="1691640"/>
            <a:ext cx="6400800" cy="1234440"/>
          </a:xfrm>
          <a:prstGeom prst="roundRect">
            <a:avLst>
              <a:gd name="adj" fmla="val 5926"/>
            </a:avLst>
          </a:prstGeom>
          <a:solidFill>
            <a:srgbClr val="FFFFFF"/>
          </a:solidFill>
          <a:ln w="9525">
            <a:solidFill>
              <a:srgbClr val="D5DDE5"/>
            </a:solidFill>
            <a:prstDash val="solid"/>
          </a:ln>
        </p:spPr>
      </p:sp>
      <p:sp>
        <p:nvSpPr>
          <p:cNvPr id="10" name="Text 8"/>
          <p:cNvSpPr txBox="1"/>
          <p:nvPr/>
        </p:nvSpPr>
        <p:spPr>
          <a:xfrm>
            <a:off x="5486400" y="1828800"/>
            <a:ext cx="5943600" cy="365760"/>
          </a:xfrm>
          <a:prstGeom prst="rect">
            <a:avLst/>
          </a:prstGeom>
          <a:noFill/>
          <a:ln/>
        </p:spPr>
        <p:txBody>
          <a:bodyPr wrap="square" lIns="0" tIns="0" rIns="0" bIns="0" rtlCol="0" anchor="ctr"/>
          <a:lstStyle/>
          <a:p>
            <a:pPr indent="0" marL="0">
              <a:buNone/>
            </a:pPr>
            <a:r>
              <a:rPr lang="en-US" sz="1700" b="1" dirty="0">
                <a:solidFill>
                  <a:srgbClr val="10213A"/>
                </a:solidFill>
                <a:latin typeface="Calibri" pitchFamily="34" charset="0"/>
                <a:ea typeface="Calibri" pitchFamily="34" charset="-122"/>
                <a:cs typeface="Calibri" pitchFamily="34" charset="-120"/>
              </a:rPr>
              <a:t>Scale</a:t>
            </a:r>
            <a:endParaRPr lang="en-US" sz="1700" dirty="0"/>
          </a:p>
        </p:txBody>
      </p:sp>
      <p:sp>
        <p:nvSpPr>
          <p:cNvPr id="11" name="Text 9"/>
          <p:cNvSpPr txBox="1"/>
          <p:nvPr/>
        </p:nvSpPr>
        <p:spPr>
          <a:xfrm>
            <a:off x="5486400" y="2194560"/>
            <a:ext cx="5943600" cy="68580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Blocklists cannot keep up with hundreds of thousands of new sites each quarter. Models that learn from site characteristics can flag unseen sites.</a:t>
            </a:r>
            <a:endParaRPr lang="en-US" sz="1400" dirty="0"/>
          </a:p>
        </p:txBody>
      </p:sp>
      <p:sp>
        <p:nvSpPr>
          <p:cNvPr id="12" name="Shape 10"/>
          <p:cNvSpPr/>
          <p:nvPr/>
        </p:nvSpPr>
        <p:spPr>
          <a:xfrm>
            <a:off x="5212080" y="3108960"/>
            <a:ext cx="6400800" cy="1234440"/>
          </a:xfrm>
          <a:prstGeom prst="roundRect">
            <a:avLst>
              <a:gd name="adj" fmla="val 5926"/>
            </a:avLst>
          </a:prstGeom>
          <a:solidFill>
            <a:srgbClr val="FFFFFF"/>
          </a:solidFill>
          <a:ln w="9525">
            <a:solidFill>
              <a:srgbClr val="D5DDE5"/>
            </a:solidFill>
            <a:prstDash val="solid"/>
          </a:ln>
        </p:spPr>
      </p:sp>
      <p:sp>
        <p:nvSpPr>
          <p:cNvPr id="13" name="Text 11"/>
          <p:cNvSpPr txBox="1"/>
          <p:nvPr/>
        </p:nvSpPr>
        <p:spPr>
          <a:xfrm>
            <a:off x="5486400" y="3246120"/>
            <a:ext cx="5943600" cy="365760"/>
          </a:xfrm>
          <a:prstGeom prst="rect">
            <a:avLst/>
          </a:prstGeom>
          <a:noFill/>
          <a:ln/>
        </p:spPr>
        <p:txBody>
          <a:bodyPr wrap="square" lIns="0" tIns="0" rIns="0" bIns="0" rtlCol="0" anchor="ctr"/>
          <a:lstStyle/>
          <a:p>
            <a:pPr indent="0" marL="0">
              <a:buNone/>
            </a:pPr>
            <a:r>
              <a:rPr lang="en-US" sz="1700" b="1" dirty="0">
                <a:solidFill>
                  <a:srgbClr val="10213A"/>
                </a:solidFill>
                <a:latin typeface="Calibri" pitchFamily="34" charset="0"/>
                <a:ea typeface="Calibri" pitchFamily="34" charset="-122"/>
                <a:cs typeface="Calibri" pitchFamily="34" charset="-120"/>
              </a:rPr>
              <a:t>Asymmetric errors</a:t>
            </a:r>
            <a:endParaRPr lang="en-US" sz="1700" dirty="0"/>
          </a:p>
        </p:txBody>
      </p:sp>
      <p:sp>
        <p:nvSpPr>
          <p:cNvPr id="14" name="Text 12"/>
          <p:cNvSpPr txBox="1"/>
          <p:nvPr/>
        </p:nvSpPr>
        <p:spPr>
          <a:xfrm>
            <a:off x="5486400" y="3611880"/>
            <a:ext cx="5943600" cy="68580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A missed phishing site exposes users to credential theft. A false alarm interrupts a legitimate site. Accuracy alone hides this.</a:t>
            </a:r>
            <a:endParaRPr lang="en-US" sz="1400" dirty="0"/>
          </a:p>
        </p:txBody>
      </p:sp>
      <p:sp>
        <p:nvSpPr>
          <p:cNvPr id="15" name="Shape 13"/>
          <p:cNvSpPr/>
          <p:nvPr/>
        </p:nvSpPr>
        <p:spPr>
          <a:xfrm>
            <a:off x="5212080" y="4526280"/>
            <a:ext cx="6400800" cy="1234440"/>
          </a:xfrm>
          <a:prstGeom prst="roundRect">
            <a:avLst>
              <a:gd name="adj" fmla="val 5926"/>
            </a:avLst>
          </a:prstGeom>
          <a:solidFill>
            <a:srgbClr val="DDF0EE"/>
          </a:solidFill>
          <a:ln w="9525">
            <a:solidFill>
              <a:srgbClr val="D5DDE5"/>
            </a:solidFill>
            <a:prstDash val="solid"/>
          </a:ln>
        </p:spPr>
      </p:sp>
      <p:sp>
        <p:nvSpPr>
          <p:cNvPr id="16" name="Text 14"/>
          <p:cNvSpPr txBox="1"/>
          <p:nvPr/>
        </p:nvSpPr>
        <p:spPr>
          <a:xfrm>
            <a:off x="5486400" y="4663440"/>
            <a:ext cx="5943600" cy="365760"/>
          </a:xfrm>
          <a:prstGeom prst="rect">
            <a:avLst/>
          </a:prstGeom>
          <a:noFill/>
          <a:ln/>
        </p:spPr>
        <p:txBody>
          <a:bodyPr wrap="square" lIns="0" tIns="0" rIns="0" bIns="0" rtlCol="0" anchor="ctr"/>
          <a:lstStyle/>
          <a:p>
            <a:pPr indent="0" marL="0">
              <a:buNone/>
            </a:pPr>
            <a:r>
              <a:rPr lang="en-US" sz="1700" b="1" dirty="0">
                <a:solidFill>
                  <a:srgbClr val="0F8480"/>
                </a:solidFill>
                <a:latin typeface="Calibri" pitchFamily="34" charset="0"/>
                <a:ea typeface="Calibri" pitchFamily="34" charset="-122"/>
                <a:cs typeface="Calibri" pitchFamily="34" charset="-120"/>
              </a:rPr>
              <a:t>Our question</a:t>
            </a:r>
            <a:endParaRPr lang="en-US" sz="1700" dirty="0"/>
          </a:p>
        </p:txBody>
      </p:sp>
      <p:sp>
        <p:nvSpPr>
          <p:cNvPr id="17" name="Text 15"/>
          <p:cNvSpPr txBox="1"/>
          <p:nvPr/>
        </p:nvSpPr>
        <p:spPr>
          <a:xfrm>
            <a:off x="5486400" y="5029200"/>
            <a:ext cx="5943600" cy="68580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Which ML or deep learning model best separates phishing from legitimate websites, when evaluated fairly on unseen patterns?</a:t>
            </a:r>
            <a:endParaRPr lang="en-US" sz="1400" dirty="0"/>
          </a:p>
        </p:txBody>
      </p:sp>
      <p:sp>
        <p:nvSpPr>
          <p:cNvPr id="18" name="Text 16"/>
          <p:cNvSpPr txBox="1"/>
          <p:nvPr/>
        </p:nvSpPr>
        <p:spPr>
          <a:xfrm>
            <a:off x="548640" y="3246120"/>
            <a:ext cx="4206240" cy="146304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Why this topic: a concrete security problem, public labelled data, and error types that are easy to interpret for a non-specialist audience.</a:t>
            </a:r>
            <a:endParaRPr lang="en-US" sz="1500" dirty="0"/>
          </a:p>
        </p:txBody>
      </p:sp>
      <p:sp>
        <p:nvSpPr>
          <p:cNvPr id="19" name="Text 17"/>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100" i="1" dirty="0">
                <a:solidFill>
                  <a:srgbClr val="7A858E"/>
                </a:solidFill>
                <a:latin typeface="Calibri" pitchFamily="34" charset="0"/>
                <a:ea typeface="Calibri" pitchFamily="34" charset="-122"/>
                <a:cs typeface="Calibri" pitchFamily="34" charset="-120"/>
              </a:rPr>
              <a:t>Source: Anti-Phishing Working Group (2026), Phishing Activity Trends Report, Q4 2025.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Dataset: UCI Phishing Websites</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30 engineered indicators per website, each coded −1 (phishing-like), 0 (suspicious) or +1 (legitimate-like)</a:t>
            </a:r>
            <a:endParaRPr lang="en-US" sz="1600" dirty="0"/>
          </a:p>
        </p:txBody>
      </p:sp>
      <p:sp>
        <p:nvSpPr>
          <p:cNvPr id="4" name="Shape 2"/>
          <p:cNvSpPr/>
          <p:nvPr/>
        </p:nvSpPr>
        <p:spPr>
          <a:xfrm>
            <a:off x="10104120" y="384048"/>
            <a:ext cx="1554480" cy="384048"/>
          </a:xfrm>
          <a:prstGeom prst="roundRect">
            <a:avLst>
              <a:gd name="adj" fmla="val 50000"/>
            </a:avLst>
          </a:prstGeom>
          <a:solidFill>
            <a:srgbClr val="0F8480"/>
          </a:solidFill>
          <a:ln/>
        </p:spPr>
      </p:sp>
      <p:sp>
        <p:nvSpPr>
          <p:cNvPr id="5" name="Text 3"/>
          <p:cNvSpPr txBox="1"/>
          <p:nvPr/>
        </p:nvSpPr>
        <p:spPr>
          <a:xfrm>
            <a:off x="10104120" y="384048"/>
            <a:ext cx="15544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Presenter A</a:t>
            </a:r>
            <a:endParaRPr lang="en-US" sz="1200" dirty="0"/>
          </a:p>
        </p:txBody>
      </p:sp>
      <p:sp>
        <p:nvSpPr>
          <p:cNvPr id="6" name="Text 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04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589520" cy="914400"/>
        </p:xfrm>
        <a:graphic>
          <a:graphicData uri="http://schemas.openxmlformats.org/drawingml/2006/table">
            <a:tbl>
              <a:tblPr/>
              <a:tblGrid>
                <a:gridCol w="1828800"/>
                <a:gridCol w="822960"/>
                <a:gridCol w="493776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Feature group</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Count</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Examples and what they capture</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10213A"/>
                    </a:solidFill>
                  </a:tcPr>
                </a:tc>
              </a:tr>
              <a:tr h="685800">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Address bar</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SSLfinal_State (HTTPS certificate), Prefix_Suffix (“-” in domain), having_Sub_Domain, URL_Length</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r>
              <a:tr h="685800">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Abnormal content</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URL_of_Anchor (links pointing elsewhere), Request_URL, SFH (where forms submit)</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r>
              <a:tr h="685800">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HTML / JavaScript</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Iframe, on_mouseover, RightClick disabled, popUpWidnow, Redirect</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r>
              <a:tr h="685800">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Domain reputation</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age_of_domain, web_traffic, DNSRecord, Page_Rank, Google_Index</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8686800" y="1691640"/>
            <a:ext cx="2926080" cy="731520"/>
          </a:xfrm>
          <a:prstGeom prst="rect">
            <a:avLst/>
          </a:prstGeom>
          <a:noFill/>
          <a:ln/>
        </p:spPr>
        <p:txBody>
          <a:bodyPr wrap="square" lIns="0" tIns="0" rIns="0" bIns="0" rtlCol="0" anchor="ctr"/>
          <a:lstStyle/>
          <a:p>
            <a:pPr indent="0" marL="0">
              <a:buNone/>
            </a:pPr>
            <a:r>
              <a:rPr lang="en-US" sz="4400" b="1" dirty="0">
                <a:solidFill>
                  <a:srgbClr val="0F8480"/>
                </a:solidFill>
                <a:latin typeface="Calibri" pitchFamily="34" charset="0"/>
                <a:ea typeface="Calibri" pitchFamily="34" charset="-122"/>
                <a:cs typeface="Calibri" pitchFamily="34" charset="-120"/>
              </a:rPr>
              <a:t>11,055</a:t>
            </a:r>
            <a:endParaRPr lang="en-US" sz="4400" dirty="0"/>
          </a:p>
        </p:txBody>
      </p:sp>
      <p:sp>
        <p:nvSpPr>
          <p:cNvPr id="9" name="Text 6"/>
          <p:cNvSpPr txBox="1"/>
          <p:nvPr/>
        </p:nvSpPr>
        <p:spPr>
          <a:xfrm>
            <a:off x="8686800" y="2423160"/>
            <a:ext cx="2926080" cy="5486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website records, no missing values</a:t>
            </a:r>
            <a:endParaRPr lang="en-US" sz="1400" dirty="0"/>
          </a:p>
        </p:txBody>
      </p:sp>
      <p:sp>
        <p:nvSpPr>
          <p:cNvPr id="10" name="Text 7"/>
          <p:cNvSpPr txBox="1"/>
          <p:nvPr/>
        </p:nvSpPr>
        <p:spPr>
          <a:xfrm>
            <a:off x="8686800" y="3063240"/>
            <a:ext cx="2926080" cy="731520"/>
          </a:xfrm>
          <a:prstGeom prst="rect">
            <a:avLst/>
          </a:prstGeom>
          <a:noFill/>
          <a:ln/>
        </p:spPr>
        <p:txBody>
          <a:bodyPr wrap="square" lIns="0" tIns="0" rIns="0" bIns="0" rtlCol="0" anchor="ctr"/>
          <a:lstStyle/>
          <a:p>
            <a:pPr indent="0" marL="0">
              <a:buNone/>
            </a:pPr>
            <a:r>
              <a:rPr lang="en-US" sz="4400" b="1" dirty="0">
                <a:solidFill>
                  <a:srgbClr val="C0463C"/>
                </a:solidFill>
                <a:latin typeface="Calibri" pitchFamily="34" charset="0"/>
                <a:ea typeface="Calibri" pitchFamily="34" charset="-122"/>
                <a:cs typeface="Calibri" pitchFamily="34" charset="-120"/>
              </a:rPr>
              <a:t>44.3%</a:t>
            </a:r>
            <a:endParaRPr lang="en-US" sz="4400" dirty="0"/>
          </a:p>
        </p:txBody>
      </p:sp>
      <p:sp>
        <p:nvSpPr>
          <p:cNvPr id="11" name="Text 8"/>
          <p:cNvSpPr txBox="1"/>
          <p:nvPr/>
        </p:nvSpPr>
        <p:spPr>
          <a:xfrm>
            <a:off x="8686800" y="3794760"/>
            <a:ext cx="2926080" cy="5486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phishing (4,898) vs 6,157 legitimate</a:t>
            </a:r>
            <a:endParaRPr lang="en-US" sz="1400" dirty="0"/>
          </a:p>
        </p:txBody>
      </p:sp>
      <p:sp>
        <p:nvSpPr>
          <p:cNvPr id="12" name="Text 9"/>
          <p:cNvSpPr txBox="1"/>
          <p:nvPr/>
        </p:nvSpPr>
        <p:spPr>
          <a:xfrm>
            <a:off x="548640" y="4937760"/>
            <a:ext cx="7589520" cy="457200"/>
          </a:xfrm>
          <a:prstGeom prst="rect">
            <a:avLst/>
          </a:prstGeom>
          <a:noFill/>
          <a:ln/>
        </p:spPr>
        <p:txBody>
          <a:bodyPr wrap="square" lIns="0" tIns="0" rIns="0" bIns="0" rtlCol="0" anchor="ctr"/>
          <a:lstStyle/>
          <a:p>
            <a:pPr indent="0" marL="0">
              <a:buNone/>
            </a:pPr>
            <a:r>
              <a:rPr lang="en-US" sz="1400" b="1" dirty="0">
                <a:solidFill>
                  <a:srgbClr val="0F8480"/>
                </a:solidFill>
                <a:latin typeface="Calibri" pitchFamily="34" charset="0"/>
                <a:ea typeface="Calibri" pitchFamily="34" charset="-122"/>
                <a:cs typeface="Calibri" pitchFamily="34" charset="-120"/>
              </a:rPr>
              <a:t>Target: original −1 = phishing → mapped to 1 (positive class); +1 = legitimate → 0.</a:t>
            </a:r>
            <a:endParaRPr lang="en-US" sz="1400" dirty="0"/>
          </a:p>
        </p:txBody>
      </p:sp>
      <p:sp>
        <p:nvSpPr>
          <p:cNvPr id="13" name="Text 10"/>
          <p:cNvSpPr txBox="1"/>
          <p:nvPr/>
        </p:nvSpPr>
        <p:spPr>
          <a:xfrm>
            <a:off x="548640" y="5394960"/>
            <a:ext cx="7589520" cy="457200"/>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Codes are categories, not measurements: URL_Length = 1 means “short URL category”, not one character.</a:t>
            </a:r>
            <a:endParaRPr lang="en-US" sz="1400" dirty="0"/>
          </a:p>
        </p:txBody>
      </p:sp>
      <p:sp>
        <p:nvSpPr>
          <p:cNvPr id="14" name="Text 11"/>
          <p:cNvSpPr txBox="1"/>
          <p:nvPr/>
        </p:nvSpPr>
        <p:spPr>
          <a:xfrm>
            <a:off x="8686800" y="4480560"/>
            <a:ext cx="3017520" cy="109728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Licence CC BY 4.0. Donated 2015. Different from the Telco data used in Assessment 2.</a:t>
            </a:r>
            <a:endParaRPr lang="en-US" sz="1300" dirty="0"/>
          </a:p>
        </p:txBody>
      </p:sp>
      <p:sp>
        <p:nvSpPr>
          <p:cNvPr id="15" name="Text 12"/>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100" i="1" dirty="0">
                <a:solidFill>
                  <a:srgbClr val="7A858E"/>
                </a:solidFill>
                <a:latin typeface="Calibri" pitchFamily="34" charset="0"/>
                <a:ea typeface="Calibri" pitchFamily="34" charset="-122"/>
                <a:cs typeface="Calibri" pitchFamily="34" charset="-120"/>
              </a:rPr>
              <a:t>Source: Mohammad &amp; McCluskey (2012), UCI Machine Learning Repository, doi:10.24432/C51W2X; feature definitions from the dataset documentation.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Exploratory analysis: two indicators stand out</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Mutual information measures how much each indicator tells us about the label (development rows only)</a:t>
            </a:r>
            <a:endParaRPr lang="en-US" sz="1600" dirty="0"/>
          </a:p>
        </p:txBody>
      </p:sp>
      <p:sp>
        <p:nvSpPr>
          <p:cNvPr id="4" name="Shape 2"/>
          <p:cNvSpPr/>
          <p:nvPr/>
        </p:nvSpPr>
        <p:spPr>
          <a:xfrm>
            <a:off x="10104120" y="384048"/>
            <a:ext cx="1554480" cy="384048"/>
          </a:xfrm>
          <a:prstGeom prst="roundRect">
            <a:avLst>
              <a:gd name="adj" fmla="val 50000"/>
            </a:avLst>
          </a:prstGeom>
          <a:solidFill>
            <a:srgbClr val="0F8480"/>
          </a:solidFill>
          <a:ln/>
        </p:spPr>
      </p:sp>
      <p:sp>
        <p:nvSpPr>
          <p:cNvPr id="5" name="Text 3"/>
          <p:cNvSpPr txBox="1"/>
          <p:nvPr/>
        </p:nvSpPr>
        <p:spPr>
          <a:xfrm>
            <a:off x="10104120" y="384048"/>
            <a:ext cx="15544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Presenter A</a:t>
            </a:r>
            <a:endParaRPr lang="en-US" sz="1200" dirty="0"/>
          </a:p>
        </p:txBody>
      </p:sp>
      <p:sp>
        <p:nvSpPr>
          <p:cNvPr id="6" name="Text 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05</a:t>
            </a:r>
            <a:endParaRPr lang="en-US" sz="1000" dirty="0"/>
          </a:p>
        </p:txBody>
      </p:sp>
      <p:sp>
        <p:nvSpPr>
          <p:cNvPr id="7" name="Shape 5"/>
          <p:cNvSpPr/>
          <p:nvPr/>
        </p:nvSpPr>
        <p:spPr>
          <a:xfrm>
            <a:off x="548640" y="1645920"/>
            <a:ext cx="3291840" cy="4526280"/>
          </a:xfrm>
          <a:prstGeom prst="roundRect">
            <a:avLst>
              <a:gd name="adj" fmla="val 2222"/>
            </a:avLst>
          </a:prstGeom>
          <a:solidFill>
            <a:srgbClr val="FFFFFF"/>
          </a:solidFill>
          <a:ln w="9525">
            <a:solidFill>
              <a:srgbClr val="D5DDE5"/>
            </a:solidFill>
            <a:prstDash val="solid"/>
          </a:ln>
        </p:spPr>
      </p:sp>
      <p:graphicFrame>
        <p:nvGraphicFramePr>
          <p:cNvPr id="8" name="Chart 0" descr=""/>
          <p:cNvGraphicFramePr/>
          <p:nvPr/>
        </p:nvGraphicFramePr>
        <p:xfrm>
          <a:off x="685800" y="1783080"/>
          <a:ext cx="3017520" cy="31089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777240" y="5029200"/>
            <a:ext cx="2834640" cy="100584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Moderately balanced, so accuracy is meaningful, but we still select models by phishing F1.</a:t>
            </a:r>
            <a:endParaRPr lang="en-US" sz="1300" dirty="0"/>
          </a:p>
        </p:txBody>
      </p:sp>
      <p:sp>
        <p:nvSpPr>
          <p:cNvPr id="10" name="Shape 7"/>
          <p:cNvSpPr/>
          <p:nvPr/>
        </p:nvSpPr>
        <p:spPr>
          <a:xfrm>
            <a:off x="4069080" y="1645920"/>
            <a:ext cx="4754880" cy="4526280"/>
          </a:xfrm>
          <a:prstGeom prst="roundRect">
            <a:avLst>
              <a:gd name="adj" fmla="val 1616"/>
            </a:avLst>
          </a:prstGeom>
          <a:solidFill>
            <a:srgbClr val="FFFFFF"/>
          </a:solidFill>
          <a:ln w="9525">
            <a:solidFill>
              <a:srgbClr val="D5DDE5"/>
            </a:solidFill>
            <a:prstDash val="solid"/>
          </a:ln>
        </p:spPr>
      </p:sp>
      <p:graphicFrame>
        <p:nvGraphicFramePr>
          <p:cNvPr id="11" name="Chart 1" descr=""/>
          <p:cNvGraphicFramePr/>
          <p:nvPr/>
        </p:nvGraphicFramePr>
        <p:xfrm>
          <a:off x="4160520" y="1737360"/>
          <a:ext cx="4572000" cy="4343400"/>
        </p:xfrm>
        <a:graphic xmlns:a="http://schemas.openxmlformats.org/drawingml/2006/main">
          <a:graphicData uri="http://schemas.openxmlformats.org/drawingml/2006/chart">
            <c:chart xmlns:c="http://schemas.openxmlformats.org/drawingml/2006/chart" r:id="rId2"/>
          </a:graphicData>
        </a:graphic>
      </p:graphicFrame>
      <p:sp>
        <p:nvSpPr>
          <p:cNvPr id="12" name="Text 8"/>
          <p:cNvSpPr txBox="1"/>
          <p:nvPr/>
        </p:nvSpPr>
        <p:spPr>
          <a:xfrm>
            <a:off x="9098280" y="1691640"/>
            <a:ext cx="2651760" cy="731520"/>
          </a:xfrm>
          <a:prstGeom prst="rect">
            <a:avLst/>
          </a:prstGeom>
          <a:noFill/>
          <a:ln/>
        </p:spPr>
        <p:txBody>
          <a:bodyPr wrap="square" lIns="0" tIns="0" rIns="0" bIns="0" rtlCol="0" anchor="ctr"/>
          <a:lstStyle/>
          <a:p>
            <a:pPr indent="0" marL="0">
              <a:buNone/>
            </a:pPr>
            <a:r>
              <a:rPr lang="en-US" sz="4400" b="1" dirty="0">
                <a:solidFill>
                  <a:srgbClr val="0F8480"/>
                </a:solidFill>
                <a:latin typeface="Calibri" pitchFamily="34" charset="0"/>
                <a:ea typeface="Calibri" pitchFamily="34" charset="-122"/>
                <a:cs typeface="Calibri" pitchFamily="34" charset="-120"/>
              </a:rPr>
              <a:t>0.34</a:t>
            </a:r>
            <a:endParaRPr lang="en-US" sz="4400" dirty="0"/>
          </a:p>
        </p:txBody>
      </p:sp>
      <p:sp>
        <p:nvSpPr>
          <p:cNvPr id="13" name="Text 9"/>
          <p:cNvSpPr txBox="1"/>
          <p:nvPr/>
        </p:nvSpPr>
        <p:spPr>
          <a:xfrm>
            <a:off x="9098280" y="2423160"/>
            <a:ext cx="2651760" cy="5486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SSLfinal_State: the certificate / HTTPS indicator is the strongest single signal</a:t>
            </a:r>
            <a:endParaRPr lang="en-US" sz="1400" dirty="0"/>
          </a:p>
        </p:txBody>
      </p:sp>
      <p:sp>
        <p:nvSpPr>
          <p:cNvPr id="14" name="Text 10"/>
          <p:cNvSpPr txBox="1"/>
          <p:nvPr/>
        </p:nvSpPr>
        <p:spPr>
          <a:xfrm>
            <a:off x="9098280" y="3246120"/>
            <a:ext cx="2651760" cy="731520"/>
          </a:xfrm>
          <a:prstGeom prst="rect">
            <a:avLst/>
          </a:prstGeom>
          <a:noFill/>
          <a:ln/>
        </p:spPr>
        <p:txBody>
          <a:bodyPr wrap="square" lIns="0" tIns="0" rIns="0" bIns="0" rtlCol="0" anchor="ctr"/>
          <a:lstStyle/>
          <a:p>
            <a:pPr indent="0" marL="0">
              <a:buNone/>
            </a:pPr>
            <a:r>
              <a:rPr lang="en-US" sz="4400" b="1" dirty="0">
                <a:solidFill>
                  <a:srgbClr val="0F8480"/>
                </a:solidFill>
                <a:latin typeface="Calibri" pitchFamily="34" charset="0"/>
                <a:ea typeface="Calibri" pitchFamily="34" charset="-122"/>
                <a:cs typeface="Calibri" pitchFamily="34" charset="-120"/>
              </a:rPr>
              <a:t>0.33</a:t>
            </a:r>
            <a:endParaRPr lang="en-US" sz="4400" dirty="0"/>
          </a:p>
        </p:txBody>
      </p:sp>
      <p:sp>
        <p:nvSpPr>
          <p:cNvPr id="15" name="Text 11"/>
          <p:cNvSpPr txBox="1"/>
          <p:nvPr/>
        </p:nvSpPr>
        <p:spPr>
          <a:xfrm>
            <a:off x="9098280" y="3977640"/>
            <a:ext cx="2651760" cy="5486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URL_of_Anchor: share of links pointing to other domains</a:t>
            </a:r>
            <a:endParaRPr lang="en-US" sz="1400" dirty="0"/>
          </a:p>
        </p:txBody>
      </p:sp>
      <p:sp>
        <p:nvSpPr>
          <p:cNvPr id="16" name="Text 12"/>
          <p:cNvSpPr txBox="1"/>
          <p:nvPr/>
        </p:nvSpPr>
        <p:spPr>
          <a:xfrm>
            <a:off x="9098280" y="4800600"/>
            <a:ext cx="2651760" cy="137160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The next strongest indicator carries a quarter of that information, so models must combine many weak signals.</a:t>
            </a:r>
            <a:endParaRPr lang="en-US" sz="1300" dirty="0"/>
          </a:p>
        </p:txBody>
      </p:sp>
      <p:sp>
        <p:nvSpPr>
          <p:cNvPr id="17" name="Text 13"/>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100" i="1" dirty="0">
                <a:solidFill>
                  <a:srgbClr val="7A858E"/>
                </a:solidFill>
                <a:latin typeface="Calibri" pitchFamily="34" charset="0"/>
                <a:ea typeface="Calibri" pitchFamily="34" charset="-122"/>
                <a:cs typeface="Calibri" pitchFamily="34" charset="-120"/>
              </a:rPr>
              <a:t>Source: results/eda_mutual_information.csv; Spearman correlation heat map in results/eda_correlation.png.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Data quality: repeated inputs need careful splitting</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The audit found only 5,785 unique feature patterns in 11,055 rows</a:t>
            </a:r>
            <a:endParaRPr lang="en-US" sz="1600" dirty="0"/>
          </a:p>
        </p:txBody>
      </p:sp>
      <p:sp>
        <p:nvSpPr>
          <p:cNvPr id="4" name="Shape 2"/>
          <p:cNvSpPr/>
          <p:nvPr/>
        </p:nvSpPr>
        <p:spPr>
          <a:xfrm>
            <a:off x="10104120" y="384048"/>
            <a:ext cx="1554480" cy="384048"/>
          </a:xfrm>
          <a:prstGeom prst="roundRect">
            <a:avLst>
              <a:gd name="adj" fmla="val 50000"/>
            </a:avLst>
          </a:prstGeom>
          <a:solidFill>
            <a:srgbClr val="0F8480"/>
          </a:solidFill>
          <a:ln/>
        </p:spPr>
      </p:sp>
      <p:sp>
        <p:nvSpPr>
          <p:cNvPr id="5" name="Text 3"/>
          <p:cNvSpPr txBox="1"/>
          <p:nvPr/>
        </p:nvSpPr>
        <p:spPr>
          <a:xfrm>
            <a:off x="10104120" y="384048"/>
            <a:ext cx="15544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Presenter A</a:t>
            </a:r>
            <a:endParaRPr lang="en-US" sz="1200" dirty="0"/>
          </a:p>
        </p:txBody>
      </p:sp>
      <p:sp>
        <p:nvSpPr>
          <p:cNvPr id="6" name="Text 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06</a:t>
            </a:r>
            <a:endParaRPr lang="en-US" sz="1000" dirty="0"/>
          </a:p>
        </p:txBody>
      </p:sp>
      <p:graphicFrame>
        <p:nvGraphicFramePr>
          <p:cNvPr id="7" name="Chart 0" descr=""/>
          <p:cNvGraphicFramePr/>
          <p:nvPr/>
        </p:nvGraphicFramePr>
        <p:xfrm>
          <a:off x="548640" y="1554480"/>
          <a:ext cx="4572000" cy="44805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5669280" y="1645920"/>
            <a:ext cx="2743200" cy="731520"/>
          </a:xfrm>
          <a:prstGeom prst="rect">
            <a:avLst/>
          </a:prstGeom>
          <a:noFill/>
          <a:ln/>
        </p:spPr>
        <p:txBody>
          <a:bodyPr wrap="square" lIns="0" tIns="0" rIns="0" bIns="0" rtlCol="0" anchor="ctr"/>
          <a:lstStyle/>
          <a:p>
            <a:pPr indent="0" marL="0">
              <a:buNone/>
            </a:pPr>
            <a:r>
              <a:rPr lang="en-US" sz="4400" b="1" dirty="0">
                <a:solidFill>
                  <a:srgbClr val="0F8480"/>
                </a:solidFill>
                <a:latin typeface="Calibri" pitchFamily="34" charset="0"/>
                <a:ea typeface="Calibri" pitchFamily="34" charset="-122"/>
                <a:cs typeface="Calibri" pitchFamily="34" charset="-120"/>
              </a:rPr>
              <a:t>5,270</a:t>
            </a:r>
            <a:endParaRPr lang="en-US" sz="4400" dirty="0"/>
          </a:p>
        </p:txBody>
      </p:sp>
      <p:sp>
        <p:nvSpPr>
          <p:cNvPr id="9" name="Text 6"/>
          <p:cNvSpPr txBox="1"/>
          <p:nvPr/>
        </p:nvSpPr>
        <p:spPr>
          <a:xfrm>
            <a:off x="5669280" y="2377440"/>
            <a:ext cx="2743200" cy="5486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rows repeat an input pattern already seen (47.7%)</a:t>
            </a:r>
            <a:endParaRPr lang="en-US" sz="1400" dirty="0"/>
          </a:p>
        </p:txBody>
      </p:sp>
      <p:sp>
        <p:nvSpPr>
          <p:cNvPr id="10" name="Text 7"/>
          <p:cNvSpPr txBox="1"/>
          <p:nvPr/>
        </p:nvSpPr>
        <p:spPr>
          <a:xfrm>
            <a:off x="8778240" y="1645920"/>
            <a:ext cx="2834640" cy="731520"/>
          </a:xfrm>
          <a:prstGeom prst="rect">
            <a:avLst/>
          </a:prstGeom>
          <a:noFill/>
          <a:ln/>
        </p:spPr>
        <p:txBody>
          <a:bodyPr wrap="square" lIns="0" tIns="0" rIns="0" bIns="0" rtlCol="0" anchor="ctr"/>
          <a:lstStyle/>
          <a:p>
            <a:pPr indent="0" marL="0">
              <a:buNone/>
            </a:pPr>
            <a:r>
              <a:rPr lang="en-US" sz="4400" b="1" dirty="0">
                <a:solidFill>
                  <a:srgbClr val="C0463C"/>
                </a:solidFill>
                <a:latin typeface="Calibri" pitchFamily="34" charset="0"/>
                <a:ea typeface="Calibri" pitchFamily="34" charset="-122"/>
                <a:cs typeface="Calibri" pitchFamily="34" charset="-120"/>
              </a:rPr>
              <a:t>64</a:t>
            </a:r>
            <a:endParaRPr lang="en-US" sz="4400" dirty="0"/>
          </a:p>
        </p:txBody>
      </p:sp>
      <p:sp>
        <p:nvSpPr>
          <p:cNvPr id="11" name="Text 8"/>
          <p:cNvSpPr txBox="1"/>
          <p:nvPr/>
        </p:nvSpPr>
        <p:spPr>
          <a:xfrm>
            <a:off x="8778240" y="2377440"/>
            <a:ext cx="2834640" cy="5486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patterns appear with BOTH labels (conflicting)</a:t>
            </a:r>
            <a:endParaRPr lang="en-US" sz="1400" dirty="0"/>
          </a:p>
        </p:txBody>
      </p:sp>
      <p:sp>
        <p:nvSpPr>
          <p:cNvPr id="12" name="Shape 9"/>
          <p:cNvSpPr/>
          <p:nvPr/>
        </p:nvSpPr>
        <p:spPr>
          <a:xfrm>
            <a:off x="5669280" y="3383280"/>
            <a:ext cx="5943600" cy="2651760"/>
          </a:xfrm>
          <a:prstGeom prst="roundRect">
            <a:avLst>
              <a:gd name="adj" fmla="val 2759"/>
            </a:avLst>
          </a:prstGeom>
          <a:solidFill>
            <a:srgbClr val="DDF0EE"/>
          </a:solidFill>
          <a:ln w="9525">
            <a:solidFill>
              <a:srgbClr val="D5DDE5"/>
            </a:solidFill>
            <a:prstDash val="solid"/>
          </a:ln>
        </p:spPr>
      </p:sp>
      <p:sp>
        <p:nvSpPr>
          <p:cNvPr id="13" name="Text 10"/>
          <p:cNvSpPr txBox="1"/>
          <p:nvPr/>
        </p:nvSpPr>
        <p:spPr>
          <a:xfrm>
            <a:off x="5943600" y="3566160"/>
            <a:ext cx="5486400" cy="2377440"/>
          </a:xfrm>
          <a:prstGeom prst="rect">
            <a:avLst/>
          </a:prstGeom>
          <a:noFill/>
          <a:ln/>
        </p:spPr>
        <p:txBody>
          <a:bodyPr wrap="square" lIns="0" tIns="0" rIns="0" bIns="0" rtlCol="0" anchor="t"/>
          <a:lstStyle/>
          <a:p>
            <a:pPr indent="0" marL="0">
              <a:buNone/>
            </a:pPr>
            <a:r>
              <a:rPr lang="en-US" sz="1500" b="1" dirty="0">
                <a:solidFill>
                  <a:srgbClr val="C0463C"/>
                </a:solidFill>
                <a:latin typeface="Calibri" pitchFamily="34" charset="0"/>
                <a:ea typeface="Calibri" pitchFamily="34" charset="-122"/>
                <a:cs typeface="Calibri" pitchFamily="34" charset="-120"/>
              </a:rPr>
              <a:t>Risk: </a:t>
            </a:r>
            <a:pPr indent="0" marL="0">
              <a:buNone/>
            </a:pPr>
            <a:r>
              <a:rPr lang="en-US" sz="1500" dirty="0">
                <a:solidFill>
                  <a:srgbClr val="1B2733"/>
                </a:solidFill>
                <a:latin typeface="Calibri" pitchFamily="34" charset="0"/>
                <a:ea typeface="Calibri" pitchFamily="34" charset="-122"/>
                <a:cs typeface="Calibri" pitchFamily="34" charset="-120"/>
              </a:rPr>
              <a:t>a random split can put the same pattern in training and testing, so the model is tested on answers it has memorised (data leakage).</a:t>
            </a:r>
            <a:endParaRPr lang="en-US" sz="1500" dirty="0"/>
          </a:p>
          <a:p>
            <a:pPr indent="0" marL="0">
              <a:buNone/>
            </a:pPr>
            <a:r>
              <a:rPr lang="en-US" sz="600" dirty="0">
                <a:solidFill>
                  <a:srgbClr val="1B2733"/>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0F8480"/>
                </a:solidFill>
                <a:latin typeface="Calibri" pitchFamily="34" charset="0"/>
                <a:ea typeface="Calibri" pitchFamily="34" charset="-122"/>
                <a:cs typeface="Calibri" pitchFamily="34" charset="-120"/>
              </a:rPr>
              <a:t>Our fix: </a:t>
            </a:r>
            <a:pPr indent="0" marL="0">
              <a:buNone/>
            </a:pPr>
            <a:r>
              <a:rPr lang="en-US" sz="1500" dirty="0">
                <a:solidFill>
                  <a:srgbClr val="1B2733"/>
                </a:solidFill>
                <a:latin typeface="Calibri" pitchFamily="34" charset="0"/>
                <a:ea typeface="Calibri" pitchFamily="34" charset="-122"/>
                <a:cs typeface="Calibri" pitchFamily="34" charset="-120"/>
              </a:rPr>
              <a:t>hash each pattern into a group and keep every group on one side of every split (StratifiedGroupKFold). Conflicting records are kept, not deleted to inflate scores.</a:t>
            </a:r>
            <a:endParaRPr lang="en-US" sz="1500" dirty="0"/>
          </a:p>
        </p:txBody>
      </p:sp>
      <p:sp>
        <p:nvSpPr>
          <p:cNvPr id="14" name="Text 11"/>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100" i="1" dirty="0">
                <a:solidFill>
                  <a:srgbClr val="7A858E"/>
                </a:solidFill>
                <a:latin typeface="Calibri" pitchFamily="34" charset="0"/>
                <a:ea typeface="Calibri" pitchFamily="34" charset="-122"/>
                <a:cs typeface="Calibri" pitchFamily="34" charset="-120"/>
              </a:rPr>
              <a:t>Source: results/audit.json. Identical inputs do not prove identical websites, but they create an overlap risk.</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Preprocessing and feature engineering</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Every step sits inside a scikit-learn Pipeline, so it is fitted on training folds only</a:t>
            </a:r>
            <a:endParaRPr lang="en-US" sz="1600" dirty="0"/>
          </a:p>
        </p:txBody>
      </p:sp>
      <p:sp>
        <p:nvSpPr>
          <p:cNvPr id="4" name="Shape 2"/>
          <p:cNvSpPr/>
          <p:nvPr/>
        </p:nvSpPr>
        <p:spPr>
          <a:xfrm>
            <a:off x="10104120" y="384048"/>
            <a:ext cx="1554480" cy="384048"/>
          </a:xfrm>
          <a:prstGeom prst="roundRect">
            <a:avLst>
              <a:gd name="adj" fmla="val 50000"/>
            </a:avLst>
          </a:prstGeom>
          <a:solidFill>
            <a:srgbClr val="0F8480"/>
          </a:solidFill>
          <a:ln/>
        </p:spPr>
      </p:sp>
      <p:sp>
        <p:nvSpPr>
          <p:cNvPr id="5" name="Text 3"/>
          <p:cNvSpPr txBox="1"/>
          <p:nvPr/>
        </p:nvSpPr>
        <p:spPr>
          <a:xfrm>
            <a:off x="10104120" y="384048"/>
            <a:ext cx="15544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Presenter A</a:t>
            </a:r>
            <a:endParaRPr lang="en-US" sz="1200" dirty="0"/>
          </a:p>
        </p:txBody>
      </p:sp>
      <p:sp>
        <p:nvSpPr>
          <p:cNvPr id="6" name="Text 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07</a:t>
            </a:r>
            <a:endParaRPr lang="en-US" sz="1000" dirty="0"/>
          </a:p>
        </p:txBody>
      </p:sp>
      <p:sp>
        <p:nvSpPr>
          <p:cNvPr id="7" name="Shape 5"/>
          <p:cNvSpPr/>
          <p:nvPr/>
        </p:nvSpPr>
        <p:spPr>
          <a:xfrm>
            <a:off x="548640" y="1737360"/>
            <a:ext cx="2606040" cy="3291840"/>
          </a:xfrm>
          <a:prstGeom prst="roundRect">
            <a:avLst>
              <a:gd name="adj" fmla="val 2807"/>
            </a:avLst>
          </a:prstGeom>
          <a:solidFill>
            <a:srgbClr val="FFFFFF"/>
          </a:solidFill>
          <a:ln w="9525">
            <a:solidFill>
              <a:srgbClr val="D5DDE5"/>
            </a:solidFill>
            <a:prstDash val="solid"/>
          </a:ln>
        </p:spPr>
      </p:sp>
      <p:sp>
        <p:nvSpPr>
          <p:cNvPr id="8" name="Shape 6"/>
          <p:cNvSpPr/>
          <p:nvPr/>
        </p:nvSpPr>
        <p:spPr>
          <a:xfrm>
            <a:off x="777240" y="1920240"/>
            <a:ext cx="457200" cy="457200"/>
          </a:xfrm>
          <a:prstGeom prst="ellipse">
            <a:avLst/>
          </a:prstGeom>
          <a:solidFill>
            <a:srgbClr val="0F8480"/>
          </a:solidFill>
          <a:ln/>
        </p:spPr>
      </p:sp>
      <p:sp>
        <p:nvSpPr>
          <p:cNvPr id="9" name="Text 7"/>
          <p:cNvSpPr txBox="1"/>
          <p:nvPr/>
        </p:nvSpPr>
        <p:spPr>
          <a:xfrm>
            <a:off x="777240"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777240" y="2514600"/>
            <a:ext cx="2194560" cy="411480"/>
          </a:xfrm>
          <a:prstGeom prst="rect">
            <a:avLst/>
          </a:prstGeom>
          <a:noFill/>
          <a:ln/>
        </p:spPr>
        <p:txBody>
          <a:bodyPr wrap="square" lIns="0" tIns="0" rIns="0" bIns="0" rtlCol="0" anchor="ctr"/>
          <a:lstStyle/>
          <a:p>
            <a:pPr indent="0" marL="0">
              <a:buNone/>
            </a:pPr>
            <a:r>
              <a:rPr lang="en-US" sz="1600" b="1" dirty="0">
                <a:solidFill>
                  <a:srgbClr val="10213A"/>
                </a:solidFill>
                <a:latin typeface="Calibri" pitchFamily="34" charset="0"/>
                <a:ea typeface="Calibri" pitchFamily="34" charset="-122"/>
                <a:cs typeface="Calibri" pitchFamily="34" charset="-120"/>
              </a:rPr>
              <a:t>Target mapping</a:t>
            </a:r>
            <a:endParaRPr lang="en-US" sz="1600" dirty="0"/>
          </a:p>
        </p:txBody>
      </p:sp>
      <p:sp>
        <p:nvSpPr>
          <p:cNvPr id="11" name="Text 9"/>
          <p:cNvSpPr txBox="1"/>
          <p:nvPr/>
        </p:nvSpPr>
        <p:spPr>
          <a:xfrm>
            <a:off x="777240" y="2971800"/>
            <a:ext cx="2240280" cy="224028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−1 → phishing (1)</a:t>
            </a:r>
            <a:endParaRPr lang="en-US" sz="1300" dirty="0"/>
          </a:p>
          <a:p>
            <a:pPr indent="0" marL="0">
              <a:buNone/>
            </a:pPr>
            <a:r>
              <a:rPr lang="en-US" sz="1300" dirty="0">
                <a:solidFill>
                  <a:srgbClr val="1B2733"/>
                </a:solidFill>
                <a:latin typeface="Calibri" pitchFamily="34" charset="0"/>
                <a:ea typeface="Calibri" pitchFamily="34" charset="-122"/>
                <a:cs typeface="Calibri" pitchFamily="34" charset="-120"/>
              </a:rPr>
              <a:t>+1 → legitimate (0)</a:t>
            </a:r>
            <a:endParaRPr lang="en-US" sz="1300" dirty="0"/>
          </a:p>
          <a:p>
            <a:pPr indent="0" marL="0">
              <a:buNone/>
            </a:pPr>
            <a:r>
              <a:rPr lang="en-US" sz="1300" dirty="0">
                <a:solidFill>
                  <a:srgbClr val="1B2733"/>
                </a:solidFill>
                <a:latin typeface="Calibri" pitchFamily="34" charset="0"/>
                <a:ea typeface="Calibri" pitchFamily="34" charset="-122"/>
                <a:cs typeface="Calibri" pitchFamily="34" charset="-120"/>
              </a:rPr>
              <a:t>Target removed from inputs</a:t>
            </a:r>
            <a:endParaRPr lang="en-US" sz="1300" dirty="0"/>
          </a:p>
        </p:txBody>
      </p:sp>
      <p:sp>
        <p:nvSpPr>
          <p:cNvPr id="12" name="Text 10"/>
          <p:cNvSpPr txBox="1"/>
          <p:nvPr/>
        </p:nvSpPr>
        <p:spPr>
          <a:xfrm>
            <a:off x="3136392" y="3200400"/>
            <a:ext cx="310896" cy="457200"/>
          </a:xfrm>
          <a:prstGeom prst="rect">
            <a:avLst/>
          </a:prstGeom>
          <a:noFill/>
          <a:ln/>
        </p:spPr>
        <p:txBody>
          <a:bodyPr wrap="square" lIns="0" tIns="0" rIns="0" bIns="0" rtlCol="0" anchor="ctr"/>
          <a:lstStyle/>
          <a:p>
            <a:pPr algn="ctr" indent="0" marL="0">
              <a:buNone/>
            </a:pPr>
            <a:r>
              <a:rPr lang="en-US" sz="2200" b="1" dirty="0">
                <a:solidFill>
                  <a:srgbClr val="0F8480"/>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3429000" y="1737360"/>
            <a:ext cx="2606040" cy="3291840"/>
          </a:xfrm>
          <a:prstGeom prst="roundRect">
            <a:avLst>
              <a:gd name="adj" fmla="val 2807"/>
            </a:avLst>
          </a:prstGeom>
          <a:solidFill>
            <a:srgbClr val="FFFFFF"/>
          </a:solidFill>
          <a:ln w="9525">
            <a:solidFill>
              <a:srgbClr val="D5DDE5"/>
            </a:solidFill>
            <a:prstDash val="solid"/>
          </a:ln>
        </p:spPr>
      </p:sp>
      <p:sp>
        <p:nvSpPr>
          <p:cNvPr id="14" name="Shape 12"/>
          <p:cNvSpPr/>
          <p:nvPr/>
        </p:nvSpPr>
        <p:spPr>
          <a:xfrm>
            <a:off x="3657600" y="1920240"/>
            <a:ext cx="457200" cy="457200"/>
          </a:xfrm>
          <a:prstGeom prst="ellipse">
            <a:avLst/>
          </a:prstGeom>
          <a:solidFill>
            <a:srgbClr val="0F8480"/>
          </a:solidFill>
          <a:ln/>
        </p:spPr>
      </p:sp>
      <p:sp>
        <p:nvSpPr>
          <p:cNvPr id="15" name="Text 13"/>
          <p:cNvSpPr txBox="1"/>
          <p:nvPr/>
        </p:nvSpPr>
        <p:spPr>
          <a:xfrm>
            <a:off x="3657600"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3657600" y="2514600"/>
            <a:ext cx="2194560" cy="411480"/>
          </a:xfrm>
          <a:prstGeom prst="rect">
            <a:avLst/>
          </a:prstGeom>
          <a:noFill/>
          <a:ln/>
        </p:spPr>
        <p:txBody>
          <a:bodyPr wrap="square" lIns="0" tIns="0" rIns="0" bIns="0" rtlCol="0" anchor="ctr"/>
          <a:lstStyle/>
          <a:p>
            <a:pPr indent="0" marL="0">
              <a:buNone/>
            </a:pPr>
            <a:r>
              <a:rPr lang="en-US" sz="1600" b="1" dirty="0">
                <a:solidFill>
                  <a:srgbClr val="10213A"/>
                </a:solidFill>
                <a:latin typeface="Calibri" pitchFamily="34" charset="0"/>
                <a:ea typeface="Calibri" pitchFamily="34" charset="-122"/>
                <a:cs typeface="Calibri" pitchFamily="34" charset="-120"/>
              </a:rPr>
              <a:t>Group hashing</a:t>
            </a:r>
            <a:endParaRPr lang="en-US" sz="1600" dirty="0"/>
          </a:p>
        </p:txBody>
      </p:sp>
      <p:sp>
        <p:nvSpPr>
          <p:cNvPr id="17" name="Text 15"/>
          <p:cNvSpPr txBox="1"/>
          <p:nvPr/>
        </p:nvSpPr>
        <p:spPr>
          <a:xfrm>
            <a:off x="3657600" y="2971800"/>
            <a:ext cx="2240280" cy="224028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Identical input rows share a group ID; groups never cross splits</a:t>
            </a:r>
            <a:endParaRPr lang="en-US" sz="1300" dirty="0"/>
          </a:p>
        </p:txBody>
      </p:sp>
      <p:sp>
        <p:nvSpPr>
          <p:cNvPr id="18" name="Text 16"/>
          <p:cNvSpPr txBox="1"/>
          <p:nvPr/>
        </p:nvSpPr>
        <p:spPr>
          <a:xfrm>
            <a:off x="6016752" y="3200400"/>
            <a:ext cx="310896" cy="457200"/>
          </a:xfrm>
          <a:prstGeom prst="rect">
            <a:avLst/>
          </a:prstGeom>
          <a:noFill/>
          <a:ln/>
        </p:spPr>
        <p:txBody>
          <a:bodyPr wrap="square" lIns="0" tIns="0" rIns="0" bIns="0" rtlCol="0" anchor="ctr"/>
          <a:lstStyle/>
          <a:p>
            <a:pPr algn="ctr" indent="0" marL="0">
              <a:buNone/>
            </a:pPr>
            <a:r>
              <a:rPr lang="en-US" sz="2200" b="1" dirty="0">
                <a:solidFill>
                  <a:srgbClr val="0F8480"/>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6309360" y="1737360"/>
            <a:ext cx="2606040" cy="3291840"/>
          </a:xfrm>
          <a:prstGeom prst="roundRect">
            <a:avLst>
              <a:gd name="adj" fmla="val 2807"/>
            </a:avLst>
          </a:prstGeom>
          <a:solidFill>
            <a:srgbClr val="FFFFFF"/>
          </a:solidFill>
          <a:ln w="9525">
            <a:solidFill>
              <a:srgbClr val="D5DDE5"/>
            </a:solidFill>
            <a:prstDash val="solid"/>
          </a:ln>
        </p:spPr>
      </p:sp>
      <p:sp>
        <p:nvSpPr>
          <p:cNvPr id="20" name="Shape 18"/>
          <p:cNvSpPr/>
          <p:nvPr/>
        </p:nvSpPr>
        <p:spPr>
          <a:xfrm>
            <a:off x="6537960" y="1920240"/>
            <a:ext cx="457200" cy="457200"/>
          </a:xfrm>
          <a:prstGeom prst="ellipse">
            <a:avLst/>
          </a:prstGeom>
          <a:solidFill>
            <a:srgbClr val="0F8480"/>
          </a:solidFill>
          <a:ln/>
        </p:spPr>
      </p:sp>
      <p:sp>
        <p:nvSpPr>
          <p:cNvPr id="21" name="Text 19"/>
          <p:cNvSpPr txBox="1"/>
          <p:nvPr/>
        </p:nvSpPr>
        <p:spPr>
          <a:xfrm>
            <a:off x="6537960"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6537960" y="2514600"/>
            <a:ext cx="2194560" cy="411480"/>
          </a:xfrm>
          <a:prstGeom prst="rect">
            <a:avLst/>
          </a:prstGeom>
          <a:noFill/>
          <a:ln/>
        </p:spPr>
        <p:txBody>
          <a:bodyPr wrap="square" lIns="0" tIns="0" rIns="0" bIns="0" rtlCol="0" anchor="ctr"/>
          <a:lstStyle/>
          <a:p>
            <a:pPr indent="0" marL="0">
              <a:buNone/>
            </a:pPr>
            <a:r>
              <a:rPr lang="en-US" sz="1600" b="1" dirty="0">
                <a:solidFill>
                  <a:srgbClr val="10213A"/>
                </a:solidFill>
                <a:latin typeface="Calibri" pitchFamily="34" charset="0"/>
                <a:ea typeface="Calibri" pitchFamily="34" charset="-122"/>
                <a:cs typeface="Calibri" pitchFamily="34" charset="-120"/>
              </a:rPr>
              <a:t>Encoding per model</a:t>
            </a:r>
            <a:endParaRPr lang="en-US" sz="1600" dirty="0"/>
          </a:p>
        </p:txBody>
      </p:sp>
      <p:sp>
        <p:nvSpPr>
          <p:cNvPr id="23" name="Text 21"/>
          <p:cNvSpPr txBox="1"/>
          <p:nvPr/>
        </p:nvSpPr>
        <p:spPr>
          <a:xfrm>
            <a:off x="6537960" y="2971800"/>
            <a:ext cx="2240280" cy="224028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One-hot: 30 → 90 binary columns (trees, forest, ANNs, LR, k-NN, SVM)</a:t>
            </a:r>
            <a:endParaRPr lang="en-US" sz="1300" dirty="0"/>
          </a:p>
          <a:p>
            <a:pPr indent="0" marL="0">
              <a:buNone/>
            </a:pPr>
            <a:r>
              <a:rPr lang="en-US" sz="1300" dirty="0">
                <a:solidFill>
                  <a:srgbClr val="1B2733"/>
                </a:solidFill>
                <a:latin typeface="Calibri" pitchFamily="34" charset="0"/>
                <a:ea typeface="Calibri" pitchFamily="34" charset="-122"/>
                <a:cs typeface="Calibri" pitchFamily="34" charset="-120"/>
              </a:rPr>
              <a:t>Codes 0/1/2: Naive Bayes, Gradient Boosting</a:t>
            </a:r>
            <a:endParaRPr lang="en-US" sz="1300" dirty="0"/>
          </a:p>
          <a:p>
            <a:pPr indent="0" marL="0">
              <a:buNone/>
            </a:pPr>
            <a:r>
              <a:rPr lang="en-US" sz="1300" dirty="0">
                <a:solidFill>
                  <a:srgbClr val="1B2733"/>
                </a:solidFill>
                <a:latin typeface="Calibri" pitchFamily="34" charset="0"/>
                <a:ea typeface="Calibri" pitchFamily="34" charset="-122"/>
                <a:cs typeface="Calibri" pitchFamily="34" charset="-120"/>
              </a:rPr>
              <a:t>Tokens + embedding: LSTM, RNN</a:t>
            </a:r>
            <a:endParaRPr lang="en-US" sz="1300" dirty="0"/>
          </a:p>
        </p:txBody>
      </p:sp>
      <p:sp>
        <p:nvSpPr>
          <p:cNvPr id="24" name="Text 22"/>
          <p:cNvSpPr txBox="1"/>
          <p:nvPr/>
        </p:nvSpPr>
        <p:spPr>
          <a:xfrm>
            <a:off x="8897112" y="3200400"/>
            <a:ext cx="310896" cy="457200"/>
          </a:xfrm>
          <a:prstGeom prst="rect">
            <a:avLst/>
          </a:prstGeom>
          <a:noFill/>
          <a:ln/>
        </p:spPr>
        <p:txBody>
          <a:bodyPr wrap="square" lIns="0" tIns="0" rIns="0" bIns="0" rtlCol="0" anchor="ctr"/>
          <a:lstStyle/>
          <a:p>
            <a:pPr algn="ctr" indent="0" marL="0">
              <a:buNone/>
            </a:pPr>
            <a:r>
              <a:rPr lang="en-US" sz="2200" b="1" dirty="0">
                <a:solidFill>
                  <a:srgbClr val="0F8480"/>
                </a:solidFill>
                <a:latin typeface="Calibri" pitchFamily="34" charset="0"/>
                <a:ea typeface="Calibri" pitchFamily="34" charset="-122"/>
                <a:cs typeface="Calibri" pitchFamily="34" charset="-120"/>
              </a:rPr>
              <a:t>→</a:t>
            </a:r>
            <a:endParaRPr lang="en-US" sz="2200" dirty="0"/>
          </a:p>
        </p:txBody>
      </p:sp>
      <p:sp>
        <p:nvSpPr>
          <p:cNvPr id="25" name="Shape 23"/>
          <p:cNvSpPr/>
          <p:nvPr/>
        </p:nvSpPr>
        <p:spPr>
          <a:xfrm>
            <a:off x="9189720" y="1737360"/>
            <a:ext cx="2606040" cy="3291840"/>
          </a:xfrm>
          <a:prstGeom prst="roundRect">
            <a:avLst>
              <a:gd name="adj" fmla="val 2807"/>
            </a:avLst>
          </a:prstGeom>
          <a:solidFill>
            <a:srgbClr val="FFFFFF"/>
          </a:solidFill>
          <a:ln w="9525">
            <a:solidFill>
              <a:srgbClr val="D5DDE5"/>
            </a:solidFill>
            <a:prstDash val="solid"/>
          </a:ln>
        </p:spPr>
      </p:sp>
      <p:sp>
        <p:nvSpPr>
          <p:cNvPr id="26" name="Shape 24"/>
          <p:cNvSpPr/>
          <p:nvPr/>
        </p:nvSpPr>
        <p:spPr>
          <a:xfrm>
            <a:off x="9418320" y="1920240"/>
            <a:ext cx="457200" cy="457200"/>
          </a:xfrm>
          <a:prstGeom prst="ellipse">
            <a:avLst/>
          </a:prstGeom>
          <a:solidFill>
            <a:srgbClr val="0F8480"/>
          </a:solidFill>
          <a:ln/>
        </p:spPr>
      </p:sp>
      <p:sp>
        <p:nvSpPr>
          <p:cNvPr id="27" name="Text 25"/>
          <p:cNvSpPr txBox="1"/>
          <p:nvPr/>
        </p:nvSpPr>
        <p:spPr>
          <a:xfrm>
            <a:off x="9418320"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6"/>
          <p:cNvSpPr txBox="1"/>
          <p:nvPr/>
        </p:nvSpPr>
        <p:spPr>
          <a:xfrm>
            <a:off x="9418320" y="2514600"/>
            <a:ext cx="2194560" cy="411480"/>
          </a:xfrm>
          <a:prstGeom prst="rect">
            <a:avLst/>
          </a:prstGeom>
          <a:noFill/>
          <a:ln/>
        </p:spPr>
        <p:txBody>
          <a:bodyPr wrap="square" lIns="0" tIns="0" rIns="0" bIns="0" rtlCol="0" anchor="ctr"/>
          <a:lstStyle/>
          <a:p>
            <a:pPr indent="0" marL="0">
              <a:buNone/>
            </a:pPr>
            <a:r>
              <a:rPr lang="en-US" sz="1600" b="1" dirty="0">
                <a:solidFill>
                  <a:srgbClr val="10213A"/>
                </a:solidFill>
                <a:latin typeface="Calibri" pitchFamily="34" charset="0"/>
                <a:ea typeface="Calibri" pitchFamily="34" charset="-122"/>
                <a:cs typeface="Calibri" pitchFamily="34" charset="-120"/>
              </a:rPr>
              <a:t>Feature selection</a:t>
            </a:r>
            <a:endParaRPr lang="en-US" sz="1600" dirty="0"/>
          </a:p>
        </p:txBody>
      </p:sp>
      <p:sp>
        <p:nvSpPr>
          <p:cNvPr id="29" name="Text 27"/>
          <p:cNvSpPr txBox="1"/>
          <p:nvPr/>
        </p:nvSpPr>
        <p:spPr>
          <a:xfrm>
            <a:off x="9418320" y="2971800"/>
            <a:ext cx="2240280" cy="224028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Top-10 by mutual information, chosen inside each CV fold (tested as an extension)</a:t>
            </a:r>
            <a:endParaRPr lang="en-US" sz="1300" dirty="0"/>
          </a:p>
        </p:txBody>
      </p:sp>
      <p:sp>
        <p:nvSpPr>
          <p:cNvPr id="30" name="Text 28"/>
          <p:cNvSpPr txBox="1"/>
          <p:nvPr/>
        </p:nvSpPr>
        <p:spPr>
          <a:xfrm>
            <a:off x="548640" y="5349240"/>
            <a:ext cx="11064240" cy="640080"/>
          </a:xfrm>
          <a:prstGeom prst="rect">
            <a:avLst/>
          </a:prstGeom>
          <a:noFill/>
          <a:ln/>
        </p:spPr>
        <p:txBody>
          <a:bodyPr wrap="square" lIns="0" tIns="0" rIns="0" bIns="0" rtlCol="0" anchor="t"/>
          <a:lstStyle/>
          <a:p>
            <a:pPr indent="0" marL="0">
              <a:buNone/>
            </a:pPr>
            <a:r>
              <a:rPr lang="en-US" sz="1500" b="1" dirty="0">
                <a:solidFill>
                  <a:srgbClr val="0F8480"/>
                </a:solidFill>
                <a:latin typeface="Calibri" pitchFamily="34" charset="0"/>
                <a:ea typeface="Calibri" pitchFamily="34" charset="-122"/>
                <a:cs typeface="Calibri" pitchFamily="34" charset="-120"/>
              </a:rPr>
              <a:t>Why these choices: </a:t>
            </a:r>
            <a:pPr indent="0" marL="0">
              <a:buNone/>
            </a:pPr>
            <a:r>
              <a:rPr lang="en-US" sz="1500" dirty="0">
                <a:solidFill>
                  <a:srgbClr val="1B2733"/>
                </a:solidFill>
                <a:latin typeface="Calibri" pitchFamily="34" charset="0"/>
                <a:ea typeface="Calibri" pitchFamily="34" charset="-122"/>
                <a:cs typeface="Calibri" pitchFamily="34" charset="-120"/>
              </a:rPr>
              <a:t>the codes are categories, so one-hot encoding avoids pretending “−1 &lt; 0 &lt; +1” is a distance. No scaling or imputation needed: inputs are already bounded and complete.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Evaluation design: choose first, test once</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Model selection uses development data only; the test set is opened a single time</a:t>
            </a:r>
            <a:endParaRPr lang="en-US" sz="1600" dirty="0"/>
          </a:p>
        </p:txBody>
      </p:sp>
      <p:sp>
        <p:nvSpPr>
          <p:cNvPr id="4" name="Shape 2"/>
          <p:cNvSpPr/>
          <p:nvPr/>
        </p:nvSpPr>
        <p:spPr>
          <a:xfrm>
            <a:off x="10104120" y="384048"/>
            <a:ext cx="1554480" cy="384048"/>
          </a:xfrm>
          <a:prstGeom prst="roundRect">
            <a:avLst>
              <a:gd name="adj" fmla="val 50000"/>
            </a:avLst>
          </a:prstGeom>
          <a:solidFill>
            <a:srgbClr val="0F8480"/>
          </a:solidFill>
          <a:ln/>
        </p:spPr>
      </p:sp>
      <p:sp>
        <p:nvSpPr>
          <p:cNvPr id="5" name="Text 3"/>
          <p:cNvSpPr txBox="1"/>
          <p:nvPr/>
        </p:nvSpPr>
        <p:spPr>
          <a:xfrm>
            <a:off x="10104120" y="384048"/>
            <a:ext cx="15544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Presenter A</a:t>
            </a:r>
            <a:endParaRPr lang="en-US" sz="1200" dirty="0"/>
          </a:p>
        </p:txBody>
      </p:sp>
      <p:sp>
        <p:nvSpPr>
          <p:cNvPr id="6" name="Text 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08</a:t>
            </a:r>
            <a:endParaRPr lang="en-US" sz="1000" dirty="0"/>
          </a:p>
        </p:txBody>
      </p:sp>
      <p:sp>
        <p:nvSpPr>
          <p:cNvPr id="7" name="Shape 5"/>
          <p:cNvSpPr/>
          <p:nvPr/>
        </p:nvSpPr>
        <p:spPr>
          <a:xfrm>
            <a:off x="548640" y="1645920"/>
            <a:ext cx="11064240" cy="914400"/>
          </a:xfrm>
          <a:prstGeom prst="roundRect">
            <a:avLst>
              <a:gd name="adj" fmla="val 8000"/>
            </a:avLst>
          </a:prstGeom>
          <a:solidFill>
            <a:srgbClr val="FFFFFF"/>
          </a:solidFill>
          <a:ln w="9525">
            <a:solidFill>
              <a:srgbClr val="D5DDE5"/>
            </a:solidFill>
            <a:prstDash val="solid"/>
          </a:ln>
        </p:spPr>
      </p:sp>
      <p:sp>
        <p:nvSpPr>
          <p:cNvPr id="8" name="Text 6"/>
          <p:cNvSpPr txBox="1"/>
          <p:nvPr/>
        </p:nvSpPr>
        <p:spPr>
          <a:xfrm>
            <a:off x="777240" y="1645920"/>
            <a:ext cx="731520" cy="914400"/>
          </a:xfrm>
          <a:prstGeom prst="rect">
            <a:avLst/>
          </a:prstGeom>
          <a:noFill/>
          <a:ln/>
        </p:spPr>
        <p:txBody>
          <a:bodyPr wrap="square" lIns="0" tIns="0" rIns="0" bIns="0" rtlCol="0" anchor="ctr"/>
          <a:lstStyle/>
          <a:p>
            <a:pPr indent="0" marL="0">
              <a:buNone/>
            </a:pPr>
            <a:r>
              <a:rPr lang="en-US" sz="2600" b="1" dirty="0">
                <a:solidFill>
                  <a:srgbClr val="0F8480"/>
                </a:solidFill>
                <a:latin typeface="Calibri" pitchFamily="34" charset="0"/>
                <a:ea typeface="Calibri" pitchFamily="34" charset="-122"/>
                <a:cs typeface="Calibri" pitchFamily="34" charset="-120"/>
              </a:rPr>
              <a:t>01</a:t>
            </a:r>
            <a:endParaRPr lang="en-US" sz="2600" dirty="0"/>
          </a:p>
        </p:txBody>
      </p:sp>
      <p:sp>
        <p:nvSpPr>
          <p:cNvPr id="9" name="Text 7"/>
          <p:cNvSpPr txBox="1"/>
          <p:nvPr/>
        </p:nvSpPr>
        <p:spPr>
          <a:xfrm>
            <a:off x="1600200" y="1645920"/>
            <a:ext cx="2743200" cy="914400"/>
          </a:xfrm>
          <a:prstGeom prst="rect">
            <a:avLst/>
          </a:prstGeom>
          <a:noFill/>
          <a:ln/>
        </p:spPr>
        <p:txBody>
          <a:bodyPr wrap="square" lIns="0" tIns="0" rIns="0" bIns="0" rtlCol="0" anchor="ctr"/>
          <a:lstStyle/>
          <a:p>
            <a:pPr indent="0" marL="0">
              <a:buNone/>
            </a:pPr>
            <a:r>
              <a:rPr lang="en-US" sz="1700" b="1" dirty="0">
                <a:solidFill>
                  <a:srgbClr val="10213A"/>
                </a:solidFill>
                <a:latin typeface="Calibri" pitchFamily="34" charset="0"/>
                <a:ea typeface="Calibri" pitchFamily="34" charset="-122"/>
                <a:cs typeface="Calibri" pitchFamily="34" charset="-120"/>
              </a:rPr>
              <a:t>Reserve test set</a:t>
            </a:r>
            <a:endParaRPr lang="en-US" sz="1700" dirty="0"/>
          </a:p>
        </p:txBody>
      </p:sp>
      <p:sp>
        <p:nvSpPr>
          <p:cNvPr id="10" name="Text 8"/>
          <p:cNvSpPr txBox="1"/>
          <p:nvPr/>
        </p:nvSpPr>
        <p:spPr>
          <a:xfrm>
            <a:off x="4389120" y="1645920"/>
            <a:ext cx="4297680" cy="914400"/>
          </a:xfrm>
          <a:prstGeom prst="rect">
            <a:avLst/>
          </a:prstGeom>
          <a:noFill/>
          <a:ln/>
        </p:spPr>
        <p:txBody>
          <a:bodyPr wrap="square" lIns="0" tIns="0" rIns="0" bIns="0" rtlCol="0" anchor="ctr"/>
          <a:lstStyle/>
          <a:p>
            <a:pPr indent="0" marL="0">
              <a:buNone/>
            </a:pPr>
            <a:r>
              <a:rPr lang="en-US" sz="1400" dirty="0">
                <a:solidFill>
                  <a:srgbClr val="1B2733"/>
                </a:solidFill>
                <a:latin typeface="Calibri" pitchFamily="34" charset="0"/>
                <a:ea typeface="Calibri" pitchFamily="34" charset="-122"/>
                <a:cs typeface="Calibri" pitchFamily="34" charset="-120"/>
              </a:rPr>
              <a:t>2,210 rows (20%), group-safe, stratified</a:t>
            </a:r>
            <a:endParaRPr lang="en-US" sz="1400" dirty="0"/>
          </a:p>
        </p:txBody>
      </p:sp>
      <p:sp>
        <p:nvSpPr>
          <p:cNvPr id="11" name="Text 9"/>
          <p:cNvSpPr txBox="1"/>
          <p:nvPr/>
        </p:nvSpPr>
        <p:spPr>
          <a:xfrm>
            <a:off x="8869680" y="1645920"/>
            <a:ext cx="2651760" cy="914400"/>
          </a:xfrm>
          <a:prstGeom prst="rect">
            <a:avLst/>
          </a:prstGeom>
          <a:noFill/>
          <a:ln/>
        </p:spPr>
        <p:txBody>
          <a:bodyPr wrap="square" lIns="0" tIns="0" rIns="0" bIns="0" rtlCol="0" anchor="ctr"/>
          <a:lstStyle/>
          <a:p>
            <a:pPr indent="0" marL="0">
              <a:buNone/>
            </a:pPr>
            <a:r>
              <a:rPr lang="en-US" sz="1400" i="1" dirty="0">
                <a:solidFill>
                  <a:srgbClr val="5B6770"/>
                </a:solidFill>
                <a:latin typeface="Calibri" pitchFamily="34" charset="0"/>
                <a:ea typeface="Calibri" pitchFamily="34" charset="-122"/>
                <a:cs typeface="Calibri" pitchFamily="34" charset="-120"/>
              </a:rPr>
              <a:t>Independent final exam</a:t>
            </a:r>
            <a:endParaRPr lang="en-US" sz="1400" dirty="0"/>
          </a:p>
        </p:txBody>
      </p:sp>
      <p:sp>
        <p:nvSpPr>
          <p:cNvPr id="12" name="Shape 10"/>
          <p:cNvSpPr/>
          <p:nvPr/>
        </p:nvSpPr>
        <p:spPr>
          <a:xfrm>
            <a:off x="548640" y="2724912"/>
            <a:ext cx="11064240" cy="914400"/>
          </a:xfrm>
          <a:prstGeom prst="roundRect">
            <a:avLst>
              <a:gd name="adj" fmla="val 8000"/>
            </a:avLst>
          </a:prstGeom>
          <a:solidFill>
            <a:srgbClr val="FFFFFF"/>
          </a:solidFill>
          <a:ln w="9525">
            <a:solidFill>
              <a:srgbClr val="D5DDE5"/>
            </a:solidFill>
            <a:prstDash val="solid"/>
          </a:ln>
        </p:spPr>
      </p:sp>
      <p:sp>
        <p:nvSpPr>
          <p:cNvPr id="13" name="Text 11"/>
          <p:cNvSpPr txBox="1"/>
          <p:nvPr/>
        </p:nvSpPr>
        <p:spPr>
          <a:xfrm>
            <a:off x="777240" y="2724912"/>
            <a:ext cx="731520" cy="914400"/>
          </a:xfrm>
          <a:prstGeom prst="rect">
            <a:avLst/>
          </a:prstGeom>
          <a:noFill/>
          <a:ln/>
        </p:spPr>
        <p:txBody>
          <a:bodyPr wrap="square" lIns="0" tIns="0" rIns="0" bIns="0" rtlCol="0" anchor="ctr"/>
          <a:lstStyle/>
          <a:p>
            <a:pPr indent="0" marL="0">
              <a:buNone/>
            </a:pPr>
            <a:r>
              <a:rPr lang="en-US" sz="2600" b="1" dirty="0">
                <a:solidFill>
                  <a:srgbClr val="0F8480"/>
                </a:solidFill>
                <a:latin typeface="Calibri" pitchFamily="34" charset="0"/>
                <a:ea typeface="Calibri" pitchFamily="34" charset="-122"/>
                <a:cs typeface="Calibri" pitchFamily="34" charset="-120"/>
              </a:rPr>
              <a:t>02</a:t>
            </a:r>
            <a:endParaRPr lang="en-US" sz="2600" dirty="0"/>
          </a:p>
        </p:txBody>
      </p:sp>
      <p:sp>
        <p:nvSpPr>
          <p:cNvPr id="14" name="Text 12"/>
          <p:cNvSpPr txBox="1"/>
          <p:nvPr/>
        </p:nvSpPr>
        <p:spPr>
          <a:xfrm>
            <a:off x="1600200" y="2724912"/>
            <a:ext cx="2743200" cy="914400"/>
          </a:xfrm>
          <a:prstGeom prst="rect">
            <a:avLst/>
          </a:prstGeom>
          <a:noFill/>
          <a:ln/>
        </p:spPr>
        <p:txBody>
          <a:bodyPr wrap="square" lIns="0" tIns="0" rIns="0" bIns="0" rtlCol="0" anchor="ctr"/>
          <a:lstStyle/>
          <a:p>
            <a:pPr indent="0" marL="0">
              <a:buNone/>
            </a:pPr>
            <a:r>
              <a:rPr lang="en-US" sz="1700" b="1" dirty="0">
                <a:solidFill>
                  <a:srgbClr val="10213A"/>
                </a:solidFill>
                <a:latin typeface="Calibri" pitchFamily="34" charset="0"/>
                <a:ea typeface="Calibri" pitchFamily="34" charset="-122"/>
                <a:cs typeface="Calibri" pitchFamily="34" charset="-120"/>
              </a:rPr>
              <a:t>Tune on development</a:t>
            </a:r>
            <a:endParaRPr lang="en-US" sz="1700" dirty="0"/>
          </a:p>
        </p:txBody>
      </p:sp>
      <p:sp>
        <p:nvSpPr>
          <p:cNvPr id="15" name="Text 13"/>
          <p:cNvSpPr txBox="1"/>
          <p:nvPr/>
        </p:nvSpPr>
        <p:spPr>
          <a:xfrm>
            <a:off x="4389120" y="2724912"/>
            <a:ext cx="4297680" cy="914400"/>
          </a:xfrm>
          <a:prstGeom prst="rect">
            <a:avLst/>
          </a:prstGeom>
          <a:noFill/>
          <a:ln/>
        </p:spPr>
        <p:txBody>
          <a:bodyPr wrap="square" lIns="0" tIns="0" rIns="0" bIns="0" rtlCol="0" anchor="ctr"/>
          <a:lstStyle/>
          <a:p>
            <a:pPr indent="0" marL="0">
              <a:buNone/>
            </a:pPr>
            <a:r>
              <a:rPr lang="en-US" sz="1400" dirty="0">
                <a:solidFill>
                  <a:srgbClr val="1B2733"/>
                </a:solidFill>
                <a:latin typeface="Calibri" pitchFamily="34" charset="0"/>
                <a:ea typeface="Calibri" pitchFamily="34" charset="-122"/>
                <a:cs typeface="Calibri" pitchFamily="34" charset="-120"/>
              </a:rPr>
              <a:t>8,845 rows, 3 grouped CV folds, identical for every model</a:t>
            </a:r>
            <a:endParaRPr lang="en-US" sz="1400" dirty="0"/>
          </a:p>
        </p:txBody>
      </p:sp>
      <p:sp>
        <p:nvSpPr>
          <p:cNvPr id="16" name="Text 14"/>
          <p:cNvSpPr txBox="1"/>
          <p:nvPr/>
        </p:nvSpPr>
        <p:spPr>
          <a:xfrm>
            <a:off x="8869680" y="2724912"/>
            <a:ext cx="2651760" cy="914400"/>
          </a:xfrm>
          <a:prstGeom prst="rect">
            <a:avLst/>
          </a:prstGeom>
          <a:noFill/>
          <a:ln/>
        </p:spPr>
        <p:txBody>
          <a:bodyPr wrap="square" lIns="0" tIns="0" rIns="0" bIns="0" rtlCol="0" anchor="ctr"/>
          <a:lstStyle/>
          <a:p>
            <a:pPr indent="0" marL="0">
              <a:buNone/>
            </a:pPr>
            <a:r>
              <a:rPr lang="en-US" sz="1400" i="1" dirty="0">
                <a:solidFill>
                  <a:srgbClr val="5B6770"/>
                </a:solidFill>
                <a:latin typeface="Calibri" pitchFamily="34" charset="0"/>
                <a:ea typeface="Calibri" pitchFamily="34" charset="-122"/>
                <a:cs typeface="Calibri" pitchFamily="34" charset="-120"/>
              </a:rPr>
              <a:t>Grid search by phishing F1</a:t>
            </a:r>
            <a:endParaRPr lang="en-US" sz="1400" dirty="0"/>
          </a:p>
        </p:txBody>
      </p:sp>
      <p:sp>
        <p:nvSpPr>
          <p:cNvPr id="17" name="Shape 15"/>
          <p:cNvSpPr/>
          <p:nvPr/>
        </p:nvSpPr>
        <p:spPr>
          <a:xfrm>
            <a:off x="548640" y="3803904"/>
            <a:ext cx="11064240" cy="914400"/>
          </a:xfrm>
          <a:prstGeom prst="roundRect">
            <a:avLst>
              <a:gd name="adj" fmla="val 8000"/>
            </a:avLst>
          </a:prstGeom>
          <a:solidFill>
            <a:srgbClr val="FFFFFF"/>
          </a:solidFill>
          <a:ln w="9525">
            <a:solidFill>
              <a:srgbClr val="D5DDE5"/>
            </a:solidFill>
            <a:prstDash val="solid"/>
          </a:ln>
        </p:spPr>
      </p:sp>
      <p:sp>
        <p:nvSpPr>
          <p:cNvPr id="18" name="Text 16"/>
          <p:cNvSpPr txBox="1"/>
          <p:nvPr/>
        </p:nvSpPr>
        <p:spPr>
          <a:xfrm>
            <a:off x="777240" y="3803904"/>
            <a:ext cx="731520" cy="914400"/>
          </a:xfrm>
          <a:prstGeom prst="rect">
            <a:avLst/>
          </a:prstGeom>
          <a:noFill/>
          <a:ln/>
        </p:spPr>
        <p:txBody>
          <a:bodyPr wrap="square" lIns="0" tIns="0" rIns="0" bIns="0" rtlCol="0" anchor="ctr"/>
          <a:lstStyle/>
          <a:p>
            <a:pPr indent="0" marL="0">
              <a:buNone/>
            </a:pPr>
            <a:r>
              <a:rPr lang="en-US" sz="2600" b="1" dirty="0">
                <a:solidFill>
                  <a:srgbClr val="0F8480"/>
                </a:solidFill>
                <a:latin typeface="Calibri" pitchFamily="34" charset="0"/>
                <a:ea typeface="Calibri" pitchFamily="34" charset="-122"/>
                <a:cs typeface="Calibri" pitchFamily="34" charset="-120"/>
              </a:rPr>
              <a:t>03</a:t>
            </a:r>
            <a:endParaRPr lang="en-US" sz="2600" dirty="0"/>
          </a:p>
        </p:txBody>
      </p:sp>
      <p:sp>
        <p:nvSpPr>
          <p:cNvPr id="19" name="Text 17"/>
          <p:cNvSpPr txBox="1"/>
          <p:nvPr/>
        </p:nvSpPr>
        <p:spPr>
          <a:xfrm>
            <a:off x="1600200" y="3803904"/>
            <a:ext cx="2743200" cy="914400"/>
          </a:xfrm>
          <a:prstGeom prst="rect">
            <a:avLst/>
          </a:prstGeom>
          <a:noFill/>
          <a:ln/>
        </p:spPr>
        <p:txBody>
          <a:bodyPr wrap="square" lIns="0" tIns="0" rIns="0" bIns="0" rtlCol="0" anchor="ctr"/>
          <a:lstStyle/>
          <a:p>
            <a:pPr indent="0" marL="0">
              <a:buNone/>
            </a:pPr>
            <a:r>
              <a:rPr lang="en-US" sz="1700" b="1" dirty="0">
                <a:solidFill>
                  <a:srgbClr val="10213A"/>
                </a:solidFill>
                <a:latin typeface="Calibri" pitchFamily="34" charset="0"/>
                <a:ea typeface="Calibri" pitchFamily="34" charset="-122"/>
                <a:cs typeface="Calibri" pitchFamily="34" charset="-120"/>
              </a:rPr>
              <a:t>Select the winner</a:t>
            </a:r>
            <a:endParaRPr lang="en-US" sz="1700" dirty="0"/>
          </a:p>
        </p:txBody>
      </p:sp>
      <p:sp>
        <p:nvSpPr>
          <p:cNvPr id="20" name="Text 18"/>
          <p:cNvSpPr txBox="1"/>
          <p:nvPr/>
        </p:nvSpPr>
        <p:spPr>
          <a:xfrm>
            <a:off x="4389120" y="3803904"/>
            <a:ext cx="4297680" cy="914400"/>
          </a:xfrm>
          <a:prstGeom prst="rect">
            <a:avLst/>
          </a:prstGeom>
          <a:noFill/>
          <a:ln/>
        </p:spPr>
        <p:txBody>
          <a:bodyPr wrap="square" lIns="0" tIns="0" rIns="0" bIns="0" rtlCol="0" anchor="ctr"/>
          <a:lstStyle/>
          <a:p>
            <a:pPr indent="0" marL="0">
              <a:buNone/>
            </a:pPr>
            <a:r>
              <a:rPr lang="en-US" sz="1400" dirty="0">
                <a:solidFill>
                  <a:srgbClr val="1B2733"/>
                </a:solidFill>
                <a:latin typeface="Calibri" pitchFamily="34" charset="0"/>
                <a:ea typeface="Calibri" pitchFamily="34" charset="-122"/>
                <a:cs typeface="Calibri" pitchFamily="34" charset="-120"/>
              </a:rPr>
              <a:t>Highest mean CV F1, decided before any test result is seen</a:t>
            </a:r>
            <a:endParaRPr lang="en-US" sz="1400" dirty="0"/>
          </a:p>
        </p:txBody>
      </p:sp>
      <p:sp>
        <p:nvSpPr>
          <p:cNvPr id="21" name="Text 19"/>
          <p:cNvSpPr txBox="1"/>
          <p:nvPr/>
        </p:nvSpPr>
        <p:spPr>
          <a:xfrm>
            <a:off x="8869680" y="3803904"/>
            <a:ext cx="2651760" cy="914400"/>
          </a:xfrm>
          <a:prstGeom prst="rect">
            <a:avLst/>
          </a:prstGeom>
          <a:noFill/>
          <a:ln/>
        </p:spPr>
        <p:txBody>
          <a:bodyPr wrap="square" lIns="0" tIns="0" rIns="0" bIns="0" rtlCol="0" anchor="ctr"/>
          <a:lstStyle/>
          <a:p>
            <a:pPr indent="0" marL="0">
              <a:buNone/>
            </a:pPr>
            <a:r>
              <a:rPr lang="en-US" sz="1400" i="1" dirty="0">
                <a:solidFill>
                  <a:srgbClr val="5B6770"/>
                </a:solidFill>
                <a:latin typeface="Calibri" pitchFamily="34" charset="0"/>
                <a:ea typeface="Calibri" pitchFamily="34" charset="-122"/>
                <a:cs typeface="Calibri" pitchFamily="34" charset="-120"/>
              </a:rPr>
              <a:t>Prevents test-set tuning</a:t>
            </a:r>
            <a:endParaRPr lang="en-US" sz="1400" dirty="0"/>
          </a:p>
        </p:txBody>
      </p:sp>
      <p:sp>
        <p:nvSpPr>
          <p:cNvPr id="22" name="Shape 20"/>
          <p:cNvSpPr/>
          <p:nvPr/>
        </p:nvSpPr>
        <p:spPr>
          <a:xfrm>
            <a:off x="548640" y="4882896"/>
            <a:ext cx="11064240" cy="914400"/>
          </a:xfrm>
          <a:prstGeom prst="roundRect">
            <a:avLst>
              <a:gd name="adj" fmla="val 8000"/>
            </a:avLst>
          </a:prstGeom>
          <a:solidFill>
            <a:srgbClr val="DDF0EE"/>
          </a:solidFill>
          <a:ln w="9525">
            <a:solidFill>
              <a:srgbClr val="D5DDE5"/>
            </a:solidFill>
            <a:prstDash val="solid"/>
          </a:ln>
        </p:spPr>
      </p:sp>
      <p:sp>
        <p:nvSpPr>
          <p:cNvPr id="23" name="Text 21"/>
          <p:cNvSpPr txBox="1"/>
          <p:nvPr/>
        </p:nvSpPr>
        <p:spPr>
          <a:xfrm>
            <a:off x="777240" y="4882896"/>
            <a:ext cx="731520" cy="914400"/>
          </a:xfrm>
          <a:prstGeom prst="rect">
            <a:avLst/>
          </a:prstGeom>
          <a:noFill/>
          <a:ln/>
        </p:spPr>
        <p:txBody>
          <a:bodyPr wrap="square" lIns="0" tIns="0" rIns="0" bIns="0" rtlCol="0" anchor="ctr"/>
          <a:lstStyle/>
          <a:p>
            <a:pPr indent="0" marL="0">
              <a:buNone/>
            </a:pPr>
            <a:r>
              <a:rPr lang="en-US" sz="2600" b="1" dirty="0">
                <a:solidFill>
                  <a:srgbClr val="0F8480"/>
                </a:solidFill>
                <a:latin typeface="Calibri" pitchFamily="34" charset="0"/>
                <a:ea typeface="Calibri" pitchFamily="34" charset="-122"/>
                <a:cs typeface="Calibri" pitchFamily="34" charset="-120"/>
              </a:rPr>
              <a:t>04</a:t>
            </a:r>
            <a:endParaRPr lang="en-US" sz="2600" dirty="0"/>
          </a:p>
        </p:txBody>
      </p:sp>
      <p:sp>
        <p:nvSpPr>
          <p:cNvPr id="24" name="Text 22"/>
          <p:cNvSpPr txBox="1"/>
          <p:nvPr/>
        </p:nvSpPr>
        <p:spPr>
          <a:xfrm>
            <a:off x="1600200" y="4882896"/>
            <a:ext cx="2743200" cy="914400"/>
          </a:xfrm>
          <a:prstGeom prst="rect">
            <a:avLst/>
          </a:prstGeom>
          <a:noFill/>
          <a:ln/>
        </p:spPr>
        <p:txBody>
          <a:bodyPr wrap="square" lIns="0" tIns="0" rIns="0" bIns="0" rtlCol="0" anchor="ctr"/>
          <a:lstStyle/>
          <a:p>
            <a:pPr indent="0" marL="0">
              <a:buNone/>
            </a:pPr>
            <a:r>
              <a:rPr lang="en-US" sz="1700" b="1" dirty="0">
                <a:solidFill>
                  <a:srgbClr val="10213A"/>
                </a:solidFill>
                <a:latin typeface="Calibri" pitchFamily="34" charset="0"/>
                <a:ea typeface="Calibri" pitchFamily="34" charset="-122"/>
                <a:cs typeface="Calibri" pitchFamily="34" charset="-120"/>
              </a:rPr>
              <a:t>Evaluate once</a:t>
            </a:r>
            <a:endParaRPr lang="en-US" sz="1700" dirty="0"/>
          </a:p>
        </p:txBody>
      </p:sp>
      <p:sp>
        <p:nvSpPr>
          <p:cNvPr id="25" name="Text 23"/>
          <p:cNvSpPr txBox="1"/>
          <p:nvPr/>
        </p:nvSpPr>
        <p:spPr>
          <a:xfrm>
            <a:off x="4389120" y="4882896"/>
            <a:ext cx="4297680" cy="914400"/>
          </a:xfrm>
          <a:prstGeom prst="rect">
            <a:avLst/>
          </a:prstGeom>
          <a:noFill/>
          <a:ln/>
        </p:spPr>
        <p:txBody>
          <a:bodyPr wrap="square" lIns="0" tIns="0" rIns="0" bIns="0" rtlCol="0" anchor="ctr"/>
          <a:lstStyle/>
          <a:p>
            <a:pPr indent="0" marL="0">
              <a:buNone/>
            </a:pPr>
            <a:r>
              <a:rPr lang="en-US" sz="1400" dirty="0">
                <a:solidFill>
                  <a:srgbClr val="1B2733"/>
                </a:solidFill>
                <a:latin typeface="Calibri" pitchFamily="34" charset="0"/>
                <a:ea typeface="Calibri" pitchFamily="34" charset="-122"/>
                <a:cs typeface="Calibri" pitchFamily="34" charset="-120"/>
              </a:rPr>
              <a:t>Accuracy, precision, recall, F1, ROC AUC, confusion matrix</a:t>
            </a:r>
            <a:endParaRPr lang="en-US" sz="1400" dirty="0"/>
          </a:p>
        </p:txBody>
      </p:sp>
      <p:sp>
        <p:nvSpPr>
          <p:cNvPr id="26" name="Text 24"/>
          <p:cNvSpPr txBox="1"/>
          <p:nvPr/>
        </p:nvSpPr>
        <p:spPr>
          <a:xfrm>
            <a:off x="8869680" y="4882896"/>
            <a:ext cx="2651760" cy="914400"/>
          </a:xfrm>
          <a:prstGeom prst="rect">
            <a:avLst/>
          </a:prstGeom>
          <a:noFill/>
          <a:ln/>
        </p:spPr>
        <p:txBody>
          <a:bodyPr wrap="square" lIns="0" tIns="0" rIns="0" bIns="0" rtlCol="0" anchor="ctr"/>
          <a:lstStyle/>
          <a:p>
            <a:pPr indent="0" marL="0">
              <a:buNone/>
            </a:pPr>
            <a:r>
              <a:rPr lang="en-US" sz="1400" i="1" dirty="0">
                <a:solidFill>
                  <a:srgbClr val="5B6770"/>
                </a:solidFill>
                <a:latin typeface="Calibri" pitchFamily="34" charset="0"/>
                <a:ea typeface="Calibri" pitchFamily="34" charset="-122"/>
                <a:cs typeface="Calibri" pitchFamily="34" charset="-120"/>
              </a:rPr>
              <a:t>+ bootstrap CI and McNemar test</a:t>
            </a:r>
            <a:endParaRPr lang="en-US" sz="1400" dirty="0"/>
          </a:p>
        </p:txBody>
      </p:sp>
      <p:sp>
        <p:nvSpPr>
          <p:cNvPr id="27" name="Text 25"/>
          <p:cNvSpPr txBox="1"/>
          <p:nvPr/>
        </p:nvSpPr>
        <p:spPr>
          <a:xfrm>
            <a:off x="548640" y="6035040"/>
            <a:ext cx="11064240" cy="320040"/>
          </a:xfrm>
          <a:prstGeom prst="rect">
            <a:avLst/>
          </a:prstGeom>
          <a:noFill/>
          <a:ln/>
        </p:spPr>
        <p:txBody>
          <a:bodyPr wrap="square" lIns="0" tIns="0" rIns="0" bIns="0" rtlCol="0" anchor="ctr"/>
          <a:lstStyle/>
          <a:p>
            <a:pPr indent="0" marL="0">
              <a:buNone/>
            </a:pPr>
            <a:r>
              <a:rPr lang="en-US" sz="1400" b="1" dirty="0">
                <a:solidFill>
                  <a:srgbClr val="0F8480"/>
                </a:solidFill>
                <a:latin typeface="Calibri" pitchFamily="34" charset="0"/>
                <a:ea typeface="Calibri" pitchFamily="34" charset="-122"/>
                <a:cs typeface="Calibri" pitchFamily="34" charset="-120"/>
              </a:rPr>
              <a:t>No identical input pattern crosses a training–validation or training–test boundary (checked by assertions in train.py).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Eleven models, three families</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The four required models plus extra algorithms and deep learning for a comprehensive comparison</a:t>
            </a:r>
            <a:endParaRPr lang="en-US" sz="1600" dirty="0"/>
          </a:p>
        </p:txBody>
      </p:sp>
      <p:sp>
        <p:nvSpPr>
          <p:cNvPr id="4" name="Shape 2"/>
          <p:cNvSpPr/>
          <p:nvPr/>
        </p:nvSpPr>
        <p:spPr>
          <a:xfrm>
            <a:off x="10104120" y="384048"/>
            <a:ext cx="1554480" cy="384048"/>
          </a:xfrm>
          <a:prstGeom prst="roundRect">
            <a:avLst>
              <a:gd name="adj" fmla="val 50000"/>
            </a:avLst>
          </a:prstGeom>
          <a:solidFill>
            <a:srgbClr val="0F8480"/>
          </a:solidFill>
          <a:ln/>
        </p:spPr>
      </p:sp>
      <p:sp>
        <p:nvSpPr>
          <p:cNvPr id="5" name="Text 3"/>
          <p:cNvSpPr txBox="1"/>
          <p:nvPr/>
        </p:nvSpPr>
        <p:spPr>
          <a:xfrm>
            <a:off x="10104120" y="384048"/>
            <a:ext cx="15544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Presenter A</a:t>
            </a:r>
            <a:endParaRPr lang="en-US" sz="1200" dirty="0"/>
          </a:p>
        </p:txBody>
      </p:sp>
      <p:sp>
        <p:nvSpPr>
          <p:cNvPr id="6" name="Text 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09</a:t>
            </a:r>
            <a:endParaRPr lang="en-US" sz="1000" dirty="0"/>
          </a:p>
        </p:txBody>
      </p:sp>
      <p:sp>
        <p:nvSpPr>
          <p:cNvPr id="7" name="Shape 5"/>
          <p:cNvSpPr/>
          <p:nvPr/>
        </p:nvSpPr>
        <p:spPr>
          <a:xfrm>
            <a:off x="548640" y="1645920"/>
            <a:ext cx="3520440" cy="4526280"/>
          </a:xfrm>
          <a:prstGeom prst="roundRect">
            <a:avLst>
              <a:gd name="adj" fmla="val 2078"/>
            </a:avLst>
          </a:prstGeom>
          <a:solidFill>
            <a:srgbClr val="FFFFFF"/>
          </a:solidFill>
          <a:ln w="9525">
            <a:solidFill>
              <a:srgbClr val="D5DDE5"/>
            </a:solidFill>
            <a:prstDash val="solid"/>
          </a:ln>
        </p:spPr>
      </p:sp>
      <p:sp>
        <p:nvSpPr>
          <p:cNvPr id="8" name="Text 6"/>
          <p:cNvSpPr txBox="1"/>
          <p:nvPr/>
        </p:nvSpPr>
        <p:spPr>
          <a:xfrm>
            <a:off x="777240" y="1783080"/>
            <a:ext cx="3108960" cy="411480"/>
          </a:xfrm>
          <a:prstGeom prst="rect">
            <a:avLst/>
          </a:prstGeom>
          <a:noFill/>
          <a:ln/>
        </p:spPr>
        <p:txBody>
          <a:bodyPr wrap="square" lIns="0" tIns="0" rIns="0" bIns="0" rtlCol="0" anchor="ctr"/>
          <a:lstStyle/>
          <a:p>
            <a:pPr indent="0" marL="0">
              <a:buNone/>
            </a:pPr>
            <a:r>
              <a:rPr lang="en-US" sz="1600" b="1" dirty="0">
                <a:solidFill>
                  <a:srgbClr val="10213A"/>
                </a:solidFill>
                <a:latin typeface="Calibri" pitchFamily="34" charset="0"/>
                <a:ea typeface="Calibri" pitchFamily="34" charset="-122"/>
                <a:cs typeface="Calibri" pitchFamily="34" charset="-120"/>
              </a:rPr>
              <a:t>Required by the brief</a:t>
            </a:r>
            <a:endParaRPr lang="en-US" sz="1600" dirty="0"/>
          </a:p>
        </p:txBody>
      </p:sp>
      <p:sp>
        <p:nvSpPr>
          <p:cNvPr id="9" name="Shape 7"/>
          <p:cNvSpPr/>
          <p:nvPr/>
        </p:nvSpPr>
        <p:spPr>
          <a:xfrm>
            <a:off x="777240" y="2404872"/>
            <a:ext cx="182880" cy="182880"/>
          </a:xfrm>
          <a:prstGeom prst="ellipse">
            <a:avLst/>
          </a:prstGeom>
          <a:solidFill>
            <a:srgbClr val="10213A"/>
          </a:solidFill>
          <a:ln/>
        </p:spPr>
      </p:sp>
      <p:sp>
        <p:nvSpPr>
          <p:cNvPr id="10" name="Text 8"/>
          <p:cNvSpPr txBox="1"/>
          <p:nvPr/>
        </p:nvSpPr>
        <p:spPr>
          <a:xfrm>
            <a:off x="1097280" y="2331720"/>
            <a:ext cx="2834640" cy="868680"/>
          </a:xfrm>
          <a:prstGeom prst="rect">
            <a:avLst/>
          </a:prstGeom>
          <a:noFill/>
          <a:ln/>
        </p:spPr>
        <p:txBody>
          <a:bodyPr wrap="square" lIns="0" tIns="0" rIns="0" bIns="0" rtlCol="0" anchor="t"/>
          <a:lstStyle/>
          <a:p>
            <a:pPr indent="0" marL="0">
              <a:buNone/>
            </a:pPr>
            <a:r>
              <a:rPr lang="en-US" sz="1450" b="1" dirty="0">
                <a:solidFill>
                  <a:srgbClr val="1B2733"/>
                </a:solidFill>
                <a:latin typeface="Calibri" pitchFamily="34" charset="0"/>
                <a:ea typeface="Calibri" pitchFamily="34" charset="-122"/>
                <a:cs typeface="Calibri" pitchFamily="34" charset="-120"/>
              </a:rPr>
              <a:t>Decision Tree</a:t>
            </a:r>
            <a:endParaRPr lang="en-US" sz="1450" dirty="0"/>
          </a:p>
          <a:p>
            <a:pPr indent="0" marL="0">
              <a:buNone/>
            </a:pPr>
            <a:r>
              <a:rPr lang="en-US" sz="1250" dirty="0">
                <a:solidFill>
                  <a:srgbClr val="5B6770"/>
                </a:solidFill>
                <a:latin typeface="Calibri" pitchFamily="34" charset="0"/>
                <a:ea typeface="Calibri" pitchFamily="34" charset="-122"/>
                <a:cs typeface="Calibri" pitchFamily="34" charset="-120"/>
              </a:rPr>
              <a:t>Sequence of if-then splits; interpretable baseline</a:t>
            </a:r>
            <a:endParaRPr lang="en-US" sz="1450" dirty="0"/>
          </a:p>
        </p:txBody>
      </p:sp>
      <p:sp>
        <p:nvSpPr>
          <p:cNvPr id="11" name="Shape 9"/>
          <p:cNvSpPr/>
          <p:nvPr/>
        </p:nvSpPr>
        <p:spPr>
          <a:xfrm>
            <a:off x="777240" y="3337560"/>
            <a:ext cx="182880" cy="182880"/>
          </a:xfrm>
          <a:prstGeom prst="ellipse">
            <a:avLst/>
          </a:prstGeom>
          <a:solidFill>
            <a:srgbClr val="10213A"/>
          </a:solidFill>
          <a:ln/>
        </p:spPr>
      </p:sp>
      <p:sp>
        <p:nvSpPr>
          <p:cNvPr id="12" name="Text 10"/>
          <p:cNvSpPr txBox="1"/>
          <p:nvPr/>
        </p:nvSpPr>
        <p:spPr>
          <a:xfrm>
            <a:off x="1097280" y="3264408"/>
            <a:ext cx="2834640" cy="868680"/>
          </a:xfrm>
          <a:prstGeom prst="rect">
            <a:avLst/>
          </a:prstGeom>
          <a:noFill/>
          <a:ln/>
        </p:spPr>
        <p:txBody>
          <a:bodyPr wrap="square" lIns="0" tIns="0" rIns="0" bIns="0" rtlCol="0" anchor="t"/>
          <a:lstStyle/>
          <a:p>
            <a:pPr indent="0" marL="0">
              <a:buNone/>
            </a:pPr>
            <a:r>
              <a:rPr lang="en-US" sz="1450" b="1" dirty="0">
                <a:solidFill>
                  <a:srgbClr val="1B2733"/>
                </a:solidFill>
                <a:latin typeface="Calibri" pitchFamily="34" charset="0"/>
                <a:ea typeface="Calibri" pitchFamily="34" charset="-122"/>
                <a:cs typeface="Calibri" pitchFamily="34" charset="-120"/>
              </a:rPr>
              <a:t>Random Forest</a:t>
            </a:r>
            <a:endParaRPr lang="en-US" sz="1450" dirty="0"/>
          </a:p>
          <a:p>
            <a:pPr indent="0" marL="0">
              <a:buNone/>
            </a:pPr>
            <a:r>
              <a:rPr lang="en-US" sz="1250" dirty="0">
                <a:solidFill>
                  <a:srgbClr val="5B6770"/>
                </a:solidFill>
                <a:latin typeface="Calibri" pitchFamily="34" charset="0"/>
                <a:ea typeface="Calibri" pitchFamily="34" charset="-122"/>
                <a:cs typeface="Calibri" pitchFamily="34" charset="-120"/>
              </a:rPr>
              <a:t>150 bootstrapped trees vote; reduces variance</a:t>
            </a:r>
            <a:endParaRPr lang="en-US" sz="1450" dirty="0"/>
          </a:p>
        </p:txBody>
      </p:sp>
      <p:sp>
        <p:nvSpPr>
          <p:cNvPr id="13" name="Shape 11"/>
          <p:cNvSpPr/>
          <p:nvPr/>
        </p:nvSpPr>
        <p:spPr>
          <a:xfrm>
            <a:off x="777240" y="4270248"/>
            <a:ext cx="182880" cy="182880"/>
          </a:xfrm>
          <a:prstGeom prst="ellipse">
            <a:avLst/>
          </a:prstGeom>
          <a:solidFill>
            <a:srgbClr val="10213A"/>
          </a:solidFill>
          <a:ln/>
        </p:spPr>
      </p:sp>
      <p:sp>
        <p:nvSpPr>
          <p:cNvPr id="14" name="Text 12"/>
          <p:cNvSpPr txBox="1"/>
          <p:nvPr/>
        </p:nvSpPr>
        <p:spPr>
          <a:xfrm>
            <a:off x="1097280" y="4197096"/>
            <a:ext cx="2834640" cy="868680"/>
          </a:xfrm>
          <a:prstGeom prst="rect">
            <a:avLst/>
          </a:prstGeom>
          <a:noFill/>
          <a:ln/>
        </p:spPr>
        <p:txBody>
          <a:bodyPr wrap="square" lIns="0" tIns="0" rIns="0" bIns="0" rtlCol="0" anchor="t"/>
          <a:lstStyle/>
          <a:p>
            <a:pPr indent="0" marL="0">
              <a:buNone/>
            </a:pPr>
            <a:r>
              <a:rPr lang="en-US" sz="1450" b="1" dirty="0">
                <a:solidFill>
                  <a:srgbClr val="1B2733"/>
                </a:solidFill>
                <a:latin typeface="Calibri" pitchFamily="34" charset="0"/>
                <a:ea typeface="Calibri" pitchFamily="34" charset="-122"/>
                <a:cs typeface="Calibri" pitchFamily="34" charset="-120"/>
              </a:rPr>
              <a:t>Categorical Naive Bayes</a:t>
            </a:r>
            <a:endParaRPr lang="en-US" sz="1450" dirty="0"/>
          </a:p>
          <a:p>
            <a:pPr indent="0" marL="0">
              <a:buNone/>
            </a:pPr>
            <a:r>
              <a:rPr lang="en-US" sz="1250" dirty="0">
                <a:solidFill>
                  <a:srgbClr val="5B6770"/>
                </a:solidFill>
                <a:latin typeface="Calibri" pitchFamily="34" charset="0"/>
                <a:ea typeface="Calibri" pitchFamily="34" charset="-122"/>
                <a:cs typeface="Calibri" pitchFamily="34" charset="-120"/>
              </a:rPr>
              <a:t>Combines per-feature likelihoods; assumes independence</a:t>
            </a:r>
            <a:endParaRPr lang="en-US" sz="1450" dirty="0"/>
          </a:p>
        </p:txBody>
      </p:sp>
      <p:sp>
        <p:nvSpPr>
          <p:cNvPr id="15" name="Shape 13"/>
          <p:cNvSpPr/>
          <p:nvPr/>
        </p:nvSpPr>
        <p:spPr>
          <a:xfrm>
            <a:off x="777240" y="5202936"/>
            <a:ext cx="182880" cy="182880"/>
          </a:xfrm>
          <a:prstGeom prst="ellipse">
            <a:avLst/>
          </a:prstGeom>
          <a:solidFill>
            <a:srgbClr val="10213A"/>
          </a:solidFill>
          <a:ln/>
        </p:spPr>
      </p:sp>
      <p:sp>
        <p:nvSpPr>
          <p:cNvPr id="16" name="Text 14"/>
          <p:cNvSpPr txBox="1"/>
          <p:nvPr/>
        </p:nvSpPr>
        <p:spPr>
          <a:xfrm>
            <a:off x="1097280" y="5129784"/>
            <a:ext cx="2834640" cy="868680"/>
          </a:xfrm>
          <a:prstGeom prst="rect">
            <a:avLst/>
          </a:prstGeom>
          <a:noFill/>
          <a:ln/>
        </p:spPr>
        <p:txBody>
          <a:bodyPr wrap="square" lIns="0" tIns="0" rIns="0" bIns="0" rtlCol="0" anchor="t"/>
          <a:lstStyle/>
          <a:p>
            <a:pPr indent="0" marL="0">
              <a:buNone/>
            </a:pPr>
            <a:r>
              <a:rPr lang="en-US" sz="1450" b="1" dirty="0">
                <a:solidFill>
                  <a:srgbClr val="1B2733"/>
                </a:solidFill>
                <a:latin typeface="Calibri" pitchFamily="34" charset="0"/>
                <a:ea typeface="Calibri" pitchFamily="34" charset="-122"/>
                <a:cs typeface="Calibri" pitchFamily="34" charset="-120"/>
              </a:rPr>
              <a:t>Multilayer ANN</a:t>
            </a:r>
            <a:endParaRPr lang="en-US" sz="1450" dirty="0"/>
          </a:p>
          <a:p>
            <a:pPr indent="0" marL="0">
              <a:buNone/>
            </a:pPr>
            <a:r>
              <a:rPr lang="en-US" sz="1250" dirty="0">
                <a:solidFill>
                  <a:srgbClr val="5B6770"/>
                </a:solidFill>
                <a:latin typeface="Calibri" pitchFamily="34" charset="0"/>
                <a:ea typeface="Calibri" pitchFamily="34" charset="-122"/>
                <a:cs typeface="Calibri" pitchFamily="34" charset="-120"/>
              </a:rPr>
              <a:t>2 hidden layers (32, 16), ReLU, Adam</a:t>
            </a:r>
            <a:endParaRPr lang="en-US" sz="1450" dirty="0"/>
          </a:p>
        </p:txBody>
      </p:sp>
      <p:sp>
        <p:nvSpPr>
          <p:cNvPr id="17" name="Shape 15"/>
          <p:cNvSpPr/>
          <p:nvPr/>
        </p:nvSpPr>
        <p:spPr>
          <a:xfrm>
            <a:off x="4297680" y="1645920"/>
            <a:ext cx="3520440" cy="4526280"/>
          </a:xfrm>
          <a:prstGeom prst="roundRect">
            <a:avLst>
              <a:gd name="adj" fmla="val 2078"/>
            </a:avLst>
          </a:prstGeom>
          <a:solidFill>
            <a:srgbClr val="FFFFFF"/>
          </a:solidFill>
          <a:ln w="9525">
            <a:solidFill>
              <a:srgbClr val="D5DDE5"/>
            </a:solidFill>
            <a:prstDash val="solid"/>
          </a:ln>
        </p:spPr>
      </p:sp>
      <p:sp>
        <p:nvSpPr>
          <p:cNvPr id="18" name="Text 16"/>
          <p:cNvSpPr txBox="1"/>
          <p:nvPr/>
        </p:nvSpPr>
        <p:spPr>
          <a:xfrm>
            <a:off x="4526280" y="1783080"/>
            <a:ext cx="3108960" cy="411480"/>
          </a:xfrm>
          <a:prstGeom prst="rect">
            <a:avLst/>
          </a:prstGeom>
          <a:noFill/>
          <a:ln/>
        </p:spPr>
        <p:txBody>
          <a:bodyPr wrap="square" lIns="0" tIns="0" rIns="0" bIns="0" rtlCol="0" anchor="ctr"/>
          <a:lstStyle/>
          <a:p>
            <a:pPr indent="0" marL="0">
              <a:buNone/>
            </a:pPr>
            <a:r>
              <a:rPr lang="en-US" sz="1600" b="1" dirty="0">
                <a:solidFill>
                  <a:srgbClr val="0F8480"/>
                </a:solidFill>
                <a:latin typeface="Calibri" pitchFamily="34" charset="0"/>
                <a:ea typeface="Calibri" pitchFamily="34" charset="-122"/>
                <a:cs typeface="Calibri" pitchFamily="34" charset="-120"/>
              </a:rPr>
              <a:t>Additional machine learning</a:t>
            </a:r>
            <a:endParaRPr lang="en-US" sz="1600" dirty="0"/>
          </a:p>
        </p:txBody>
      </p:sp>
      <p:sp>
        <p:nvSpPr>
          <p:cNvPr id="19" name="Shape 17"/>
          <p:cNvSpPr/>
          <p:nvPr/>
        </p:nvSpPr>
        <p:spPr>
          <a:xfrm>
            <a:off x="4526280" y="2404872"/>
            <a:ext cx="182880" cy="182880"/>
          </a:xfrm>
          <a:prstGeom prst="ellipse">
            <a:avLst/>
          </a:prstGeom>
          <a:solidFill>
            <a:srgbClr val="0F8480"/>
          </a:solidFill>
          <a:ln/>
        </p:spPr>
      </p:sp>
      <p:sp>
        <p:nvSpPr>
          <p:cNvPr id="20" name="Text 18"/>
          <p:cNvSpPr txBox="1"/>
          <p:nvPr/>
        </p:nvSpPr>
        <p:spPr>
          <a:xfrm>
            <a:off x="4846320" y="2331720"/>
            <a:ext cx="2834640" cy="868680"/>
          </a:xfrm>
          <a:prstGeom prst="rect">
            <a:avLst/>
          </a:prstGeom>
          <a:noFill/>
          <a:ln/>
        </p:spPr>
        <p:txBody>
          <a:bodyPr wrap="square" lIns="0" tIns="0" rIns="0" bIns="0" rtlCol="0" anchor="t"/>
          <a:lstStyle/>
          <a:p>
            <a:pPr indent="0" marL="0">
              <a:buNone/>
            </a:pPr>
            <a:r>
              <a:rPr lang="en-US" sz="1450" b="1" dirty="0">
                <a:solidFill>
                  <a:srgbClr val="1B2733"/>
                </a:solidFill>
                <a:latin typeface="Calibri" pitchFamily="34" charset="0"/>
                <a:ea typeface="Calibri" pitchFamily="34" charset="-122"/>
                <a:cs typeface="Calibri" pitchFamily="34" charset="-120"/>
              </a:rPr>
              <a:t>Logistic Regression</a:t>
            </a:r>
            <a:endParaRPr lang="en-US" sz="1450" dirty="0"/>
          </a:p>
          <a:p>
            <a:pPr indent="0" marL="0">
              <a:buNone/>
            </a:pPr>
            <a:r>
              <a:rPr lang="en-US" sz="1250" dirty="0">
                <a:solidFill>
                  <a:srgbClr val="5B6770"/>
                </a:solidFill>
                <a:latin typeface="Calibri" pitchFamily="34" charset="0"/>
                <a:ea typeface="Calibri" pitchFamily="34" charset="-122"/>
                <a:cs typeface="Calibri" pitchFamily="34" charset="-120"/>
              </a:rPr>
              <a:t>Linear baseline on one-hot inputs</a:t>
            </a:r>
            <a:endParaRPr lang="en-US" sz="1450" dirty="0"/>
          </a:p>
        </p:txBody>
      </p:sp>
      <p:sp>
        <p:nvSpPr>
          <p:cNvPr id="21" name="Shape 19"/>
          <p:cNvSpPr/>
          <p:nvPr/>
        </p:nvSpPr>
        <p:spPr>
          <a:xfrm>
            <a:off x="4526280" y="3337560"/>
            <a:ext cx="182880" cy="182880"/>
          </a:xfrm>
          <a:prstGeom prst="ellipse">
            <a:avLst/>
          </a:prstGeom>
          <a:solidFill>
            <a:srgbClr val="0F8480"/>
          </a:solidFill>
          <a:ln/>
        </p:spPr>
      </p:sp>
      <p:sp>
        <p:nvSpPr>
          <p:cNvPr id="22" name="Text 20"/>
          <p:cNvSpPr txBox="1"/>
          <p:nvPr/>
        </p:nvSpPr>
        <p:spPr>
          <a:xfrm>
            <a:off x="4846320" y="3264408"/>
            <a:ext cx="2834640" cy="868680"/>
          </a:xfrm>
          <a:prstGeom prst="rect">
            <a:avLst/>
          </a:prstGeom>
          <a:noFill/>
          <a:ln/>
        </p:spPr>
        <p:txBody>
          <a:bodyPr wrap="square" lIns="0" tIns="0" rIns="0" bIns="0" rtlCol="0" anchor="t"/>
          <a:lstStyle/>
          <a:p>
            <a:pPr indent="0" marL="0">
              <a:buNone/>
            </a:pPr>
            <a:r>
              <a:rPr lang="en-US" sz="1450" b="1" dirty="0">
                <a:solidFill>
                  <a:srgbClr val="1B2733"/>
                </a:solidFill>
                <a:latin typeface="Calibri" pitchFamily="34" charset="0"/>
                <a:ea typeface="Calibri" pitchFamily="34" charset="-122"/>
                <a:cs typeface="Calibri" pitchFamily="34" charset="-120"/>
              </a:rPr>
              <a:t>k-Nearest Neighbours</a:t>
            </a:r>
            <a:endParaRPr lang="en-US" sz="1450" dirty="0"/>
          </a:p>
          <a:p>
            <a:pPr indent="0" marL="0">
              <a:buNone/>
            </a:pPr>
            <a:r>
              <a:rPr lang="en-US" sz="1250" dirty="0">
                <a:solidFill>
                  <a:srgbClr val="5B6770"/>
                </a:solidFill>
                <a:latin typeface="Calibri" pitchFamily="34" charset="0"/>
                <a:ea typeface="Calibri" pitchFamily="34" charset="-122"/>
                <a:cs typeface="Calibri" pitchFamily="34" charset="-120"/>
              </a:rPr>
              <a:t>Votes of the most similar websites</a:t>
            </a:r>
            <a:endParaRPr lang="en-US" sz="1450" dirty="0"/>
          </a:p>
        </p:txBody>
      </p:sp>
      <p:sp>
        <p:nvSpPr>
          <p:cNvPr id="23" name="Shape 21"/>
          <p:cNvSpPr/>
          <p:nvPr/>
        </p:nvSpPr>
        <p:spPr>
          <a:xfrm>
            <a:off x="4526280" y="4270248"/>
            <a:ext cx="182880" cy="182880"/>
          </a:xfrm>
          <a:prstGeom prst="ellipse">
            <a:avLst/>
          </a:prstGeom>
          <a:solidFill>
            <a:srgbClr val="0F8480"/>
          </a:solidFill>
          <a:ln/>
        </p:spPr>
      </p:sp>
      <p:sp>
        <p:nvSpPr>
          <p:cNvPr id="24" name="Text 22"/>
          <p:cNvSpPr txBox="1"/>
          <p:nvPr/>
        </p:nvSpPr>
        <p:spPr>
          <a:xfrm>
            <a:off x="4846320" y="4197096"/>
            <a:ext cx="2834640" cy="868680"/>
          </a:xfrm>
          <a:prstGeom prst="rect">
            <a:avLst/>
          </a:prstGeom>
          <a:noFill/>
          <a:ln/>
        </p:spPr>
        <p:txBody>
          <a:bodyPr wrap="square" lIns="0" tIns="0" rIns="0" bIns="0" rtlCol="0" anchor="t"/>
          <a:lstStyle/>
          <a:p>
            <a:pPr indent="0" marL="0">
              <a:buNone/>
            </a:pPr>
            <a:r>
              <a:rPr lang="en-US" sz="1450" b="1" dirty="0">
                <a:solidFill>
                  <a:srgbClr val="1B2733"/>
                </a:solidFill>
                <a:latin typeface="Calibri" pitchFamily="34" charset="0"/>
                <a:ea typeface="Calibri" pitchFamily="34" charset="-122"/>
                <a:cs typeface="Calibri" pitchFamily="34" charset="-120"/>
              </a:rPr>
              <a:t>SVM (RBF kernel)</a:t>
            </a:r>
            <a:endParaRPr lang="en-US" sz="1450" dirty="0"/>
          </a:p>
          <a:p>
            <a:pPr indent="0" marL="0">
              <a:buNone/>
            </a:pPr>
            <a:r>
              <a:rPr lang="en-US" sz="1250" dirty="0">
                <a:solidFill>
                  <a:srgbClr val="5B6770"/>
                </a:solidFill>
                <a:latin typeface="Calibri" pitchFamily="34" charset="0"/>
                <a:ea typeface="Calibri" pitchFamily="34" charset="-122"/>
                <a:cs typeface="Calibri" pitchFamily="34" charset="-120"/>
              </a:rPr>
              <a:t>Maximum-margin non-linear boundary</a:t>
            </a:r>
            <a:endParaRPr lang="en-US" sz="1450" dirty="0"/>
          </a:p>
        </p:txBody>
      </p:sp>
      <p:sp>
        <p:nvSpPr>
          <p:cNvPr id="25" name="Shape 23"/>
          <p:cNvSpPr/>
          <p:nvPr/>
        </p:nvSpPr>
        <p:spPr>
          <a:xfrm>
            <a:off x="4526280" y="5202936"/>
            <a:ext cx="182880" cy="182880"/>
          </a:xfrm>
          <a:prstGeom prst="ellipse">
            <a:avLst/>
          </a:prstGeom>
          <a:solidFill>
            <a:srgbClr val="0F8480"/>
          </a:solidFill>
          <a:ln/>
        </p:spPr>
      </p:sp>
      <p:sp>
        <p:nvSpPr>
          <p:cNvPr id="26" name="Text 24"/>
          <p:cNvSpPr txBox="1"/>
          <p:nvPr/>
        </p:nvSpPr>
        <p:spPr>
          <a:xfrm>
            <a:off x="4846320" y="5129784"/>
            <a:ext cx="2834640" cy="868680"/>
          </a:xfrm>
          <a:prstGeom prst="rect">
            <a:avLst/>
          </a:prstGeom>
          <a:noFill/>
          <a:ln/>
        </p:spPr>
        <p:txBody>
          <a:bodyPr wrap="square" lIns="0" tIns="0" rIns="0" bIns="0" rtlCol="0" anchor="t"/>
          <a:lstStyle/>
          <a:p>
            <a:pPr indent="0" marL="0">
              <a:buNone/>
            </a:pPr>
            <a:r>
              <a:rPr lang="en-US" sz="1450" b="1" dirty="0">
                <a:solidFill>
                  <a:srgbClr val="1B2733"/>
                </a:solidFill>
                <a:latin typeface="Calibri" pitchFamily="34" charset="0"/>
                <a:ea typeface="Calibri" pitchFamily="34" charset="-122"/>
                <a:cs typeface="Calibri" pitchFamily="34" charset="-120"/>
              </a:rPr>
              <a:t>Gradient Boosting</a:t>
            </a:r>
            <a:endParaRPr lang="en-US" sz="1450" dirty="0"/>
          </a:p>
          <a:p>
            <a:pPr indent="0" marL="0">
              <a:buNone/>
            </a:pPr>
            <a:r>
              <a:rPr lang="en-US" sz="1250" dirty="0">
                <a:solidFill>
                  <a:srgbClr val="5B6770"/>
                </a:solidFill>
                <a:latin typeface="Calibri" pitchFamily="34" charset="0"/>
                <a:ea typeface="Calibri" pitchFamily="34" charset="-122"/>
                <a:cs typeface="Calibri" pitchFamily="34" charset="-120"/>
              </a:rPr>
              <a:t>Trees added sequentially to fix errors</a:t>
            </a:r>
            <a:endParaRPr lang="en-US" sz="1450" dirty="0"/>
          </a:p>
        </p:txBody>
      </p:sp>
      <p:sp>
        <p:nvSpPr>
          <p:cNvPr id="27" name="Shape 25"/>
          <p:cNvSpPr/>
          <p:nvPr/>
        </p:nvSpPr>
        <p:spPr>
          <a:xfrm>
            <a:off x="8046720" y="1645920"/>
            <a:ext cx="3520440" cy="4526280"/>
          </a:xfrm>
          <a:prstGeom prst="roundRect">
            <a:avLst>
              <a:gd name="adj" fmla="val 2078"/>
            </a:avLst>
          </a:prstGeom>
          <a:solidFill>
            <a:srgbClr val="FFFFFF"/>
          </a:solidFill>
          <a:ln w="9525">
            <a:solidFill>
              <a:srgbClr val="D5DDE5"/>
            </a:solidFill>
            <a:prstDash val="solid"/>
          </a:ln>
        </p:spPr>
      </p:sp>
      <p:sp>
        <p:nvSpPr>
          <p:cNvPr id="28" name="Text 26"/>
          <p:cNvSpPr txBox="1"/>
          <p:nvPr/>
        </p:nvSpPr>
        <p:spPr>
          <a:xfrm>
            <a:off x="8275320" y="1783080"/>
            <a:ext cx="3108960" cy="411480"/>
          </a:xfrm>
          <a:prstGeom prst="rect">
            <a:avLst/>
          </a:prstGeom>
          <a:noFill/>
          <a:ln/>
        </p:spPr>
        <p:txBody>
          <a:bodyPr wrap="square" lIns="0" tIns="0" rIns="0" bIns="0" rtlCol="0" anchor="ctr"/>
          <a:lstStyle/>
          <a:p>
            <a:pPr indent="0" marL="0">
              <a:buNone/>
            </a:pPr>
            <a:r>
              <a:rPr lang="en-US" sz="1600" b="1" dirty="0">
                <a:solidFill>
                  <a:srgbClr val="C0463C"/>
                </a:solidFill>
                <a:latin typeface="Calibri" pitchFamily="34" charset="0"/>
                <a:ea typeface="Calibri" pitchFamily="34" charset="-122"/>
                <a:cs typeface="Calibri" pitchFamily="34" charset="-120"/>
              </a:rPr>
              <a:t>Deep learning</a:t>
            </a:r>
            <a:endParaRPr lang="en-US" sz="1600" dirty="0"/>
          </a:p>
        </p:txBody>
      </p:sp>
      <p:sp>
        <p:nvSpPr>
          <p:cNvPr id="29" name="Shape 27"/>
          <p:cNvSpPr/>
          <p:nvPr/>
        </p:nvSpPr>
        <p:spPr>
          <a:xfrm>
            <a:off x="8275320" y="2404872"/>
            <a:ext cx="182880" cy="182880"/>
          </a:xfrm>
          <a:prstGeom prst="ellipse">
            <a:avLst/>
          </a:prstGeom>
          <a:solidFill>
            <a:srgbClr val="C0463C"/>
          </a:solidFill>
          <a:ln/>
        </p:spPr>
      </p:sp>
      <p:sp>
        <p:nvSpPr>
          <p:cNvPr id="30" name="Text 28"/>
          <p:cNvSpPr txBox="1"/>
          <p:nvPr/>
        </p:nvSpPr>
        <p:spPr>
          <a:xfrm>
            <a:off x="8595360" y="2331720"/>
            <a:ext cx="2834640" cy="868680"/>
          </a:xfrm>
          <a:prstGeom prst="rect">
            <a:avLst/>
          </a:prstGeom>
          <a:noFill/>
          <a:ln/>
        </p:spPr>
        <p:txBody>
          <a:bodyPr wrap="square" lIns="0" tIns="0" rIns="0" bIns="0" rtlCol="0" anchor="t"/>
          <a:lstStyle/>
          <a:p>
            <a:pPr indent="0" marL="0">
              <a:buNone/>
            </a:pPr>
            <a:r>
              <a:rPr lang="en-US" sz="1450" b="1" dirty="0">
                <a:solidFill>
                  <a:srgbClr val="1B2733"/>
                </a:solidFill>
                <a:latin typeface="Calibri" pitchFamily="34" charset="0"/>
                <a:ea typeface="Calibri" pitchFamily="34" charset="-122"/>
                <a:cs typeface="Calibri" pitchFamily="34" charset="-120"/>
              </a:rPr>
              <a:t>Deep ANN</a:t>
            </a:r>
            <a:endParaRPr lang="en-US" sz="1450" dirty="0"/>
          </a:p>
          <a:p>
            <a:pPr indent="0" marL="0">
              <a:buNone/>
            </a:pPr>
            <a:r>
              <a:rPr lang="en-US" sz="1250" dirty="0">
                <a:solidFill>
                  <a:srgbClr val="5B6770"/>
                </a:solidFill>
                <a:latin typeface="Calibri" pitchFamily="34" charset="0"/>
                <a:ea typeface="Calibri" pitchFamily="34" charset="-122"/>
                <a:cs typeface="Calibri" pitchFamily="34" charset="-120"/>
              </a:rPr>
              <a:t>3 hidden layers (128, 64, 32), L2 tuned</a:t>
            </a:r>
            <a:endParaRPr lang="en-US" sz="1450" dirty="0"/>
          </a:p>
        </p:txBody>
      </p:sp>
      <p:sp>
        <p:nvSpPr>
          <p:cNvPr id="31" name="Shape 29"/>
          <p:cNvSpPr/>
          <p:nvPr/>
        </p:nvSpPr>
        <p:spPr>
          <a:xfrm>
            <a:off x="8275320" y="3337560"/>
            <a:ext cx="182880" cy="182880"/>
          </a:xfrm>
          <a:prstGeom prst="ellipse">
            <a:avLst/>
          </a:prstGeom>
          <a:solidFill>
            <a:srgbClr val="C0463C"/>
          </a:solidFill>
          <a:ln/>
        </p:spPr>
      </p:sp>
      <p:sp>
        <p:nvSpPr>
          <p:cNvPr id="32" name="Text 30"/>
          <p:cNvSpPr txBox="1"/>
          <p:nvPr/>
        </p:nvSpPr>
        <p:spPr>
          <a:xfrm>
            <a:off x="8595360" y="3264408"/>
            <a:ext cx="2834640" cy="868680"/>
          </a:xfrm>
          <a:prstGeom prst="rect">
            <a:avLst/>
          </a:prstGeom>
          <a:noFill/>
          <a:ln/>
        </p:spPr>
        <p:txBody>
          <a:bodyPr wrap="square" lIns="0" tIns="0" rIns="0" bIns="0" rtlCol="0" anchor="t"/>
          <a:lstStyle/>
          <a:p>
            <a:pPr indent="0" marL="0">
              <a:buNone/>
            </a:pPr>
            <a:r>
              <a:rPr lang="en-US" sz="1450" b="1" dirty="0">
                <a:solidFill>
                  <a:srgbClr val="1B2733"/>
                </a:solidFill>
                <a:latin typeface="Calibri" pitchFamily="34" charset="0"/>
                <a:ea typeface="Calibri" pitchFamily="34" charset="-122"/>
                <a:cs typeface="Calibri" pitchFamily="34" charset="-120"/>
              </a:rPr>
              <a:t>Bidirectional LSTM</a:t>
            </a:r>
            <a:endParaRPr lang="en-US" sz="1450" dirty="0"/>
          </a:p>
          <a:p>
            <a:pPr indent="0" marL="0">
              <a:buNone/>
            </a:pPr>
            <a:r>
              <a:rPr lang="en-US" sz="1250" dirty="0">
                <a:solidFill>
                  <a:srgbClr val="5B6770"/>
                </a:solidFill>
                <a:latin typeface="Calibri" pitchFamily="34" charset="0"/>
                <a:ea typeface="Calibri" pitchFamily="34" charset="-122"/>
                <a:cs typeface="Calibri" pitchFamily="34" charset="-120"/>
              </a:rPr>
              <a:t>Reads the 30 indicators as a token sequence (PyTorch)</a:t>
            </a:r>
            <a:endParaRPr lang="en-US" sz="1450" dirty="0"/>
          </a:p>
        </p:txBody>
      </p:sp>
      <p:sp>
        <p:nvSpPr>
          <p:cNvPr id="33" name="Shape 31"/>
          <p:cNvSpPr/>
          <p:nvPr/>
        </p:nvSpPr>
        <p:spPr>
          <a:xfrm>
            <a:off x="8275320" y="4270248"/>
            <a:ext cx="182880" cy="182880"/>
          </a:xfrm>
          <a:prstGeom prst="ellipse">
            <a:avLst/>
          </a:prstGeom>
          <a:solidFill>
            <a:srgbClr val="C0463C"/>
          </a:solidFill>
          <a:ln/>
        </p:spPr>
      </p:sp>
      <p:sp>
        <p:nvSpPr>
          <p:cNvPr id="34" name="Text 32"/>
          <p:cNvSpPr txBox="1"/>
          <p:nvPr/>
        </p:nvSpPr>
        <p:spPr>
          <a:xfrm>
            <a:off x="8595360" y="4197096"/>
            <a:ext cx="2834640" cy="868680"/>
          </a:xfrm>
          <a:prstGeom prst="rect">
            <a:avLst/>
          </a:prstGeom>
          <a:noFill/>
          <a:ln/>
        </p:spPr>
        <p:txBody>
          <a:bodyPr wrap="square" lIns="0" tIns="0" rIns="0" bIns="0" rtlCol="0" anchor="t"/>
          <a:lstStyle/>
          <a:p>
            <a:pPr indent="0" marL="0">
              <a:buNone/>
            </a:pPr>
            <a:r>
              <a:rPr lang="en-US" sz="1450" b="1" dirty="0">
                <a:solidFill>
                  <a:srgbClr val="1B2733"/>
                </a:solidFill>
                <a:latin typeface="Calibri" pitchFamily="34" charset="0"/>
                <a:ea typeface="Calibri" pitchFamily="34" charset="-122"/>
                <a:cs typeface="Calibri" pitchFamily="34" charset="-120"/>
              </a:rPr>
              <a:t>Bidirectional simple RNN</a:t>
            </a:r>
            <a:endParaRPr lang="en-US" sz="1450" dirty="0"/>
          </a:p>
          <a:p>
            <a:pPr indent="0" marL="0">
              <a:buNone/>
            </a:pPr>
            <a:r>
              <a:rPr lang="en-US" sz="1250" dirty="0">
                <a:solidFill>
                  <a:srgbClr val="5B6770"/>
                </a:solidFill>
                <a:latin typeface="Calibri" pitchFamily="34" charset="0"/>
                <a:ea typeface="Calibri" pitchFamily="34" charset="-122"/>
                <a:cs typeface="Calibri" pitchFamily="34" charset="-120"/>
              </a:rPr>
              <a:t>Same design with a plain recurrent cell</a:t>
            </a:r>
            <a:endParaRPr lang="en-US" sz="1450" dirty="0"/>
          </a:p>
        </p:txBody>
      </p:sp>
      <p:sp>
        <p:nvSpPr>
          <p:cNvPr id="35" name="Text 33"/>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100" i="1" dirty="0">
                <a:solidFill>
                  <a:srgbClr val="7A858E"/>
                </a:solidFill>
                <a:latin typeface="Calibri" pitchFamily="34" charset="0"/>
                <a:ea typeface="Calibri" pitchFamily="34" charset="-122"/>
                <a:cs typeface="Calibri" pitchFamily="34" charset="-120"/>
              </a:rPr>
              <a:t>Plus a majority-class baseline. All tuned by grid search on the same grouped folds; seeds fixed at 565 for reproducibility.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Cross-validation selected the Random Forest</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Mean phishing F1 across the three grouped development folds</a:t>
            </a:r>
            <a:endParaRPr lang="en-US" sz="1600" dirty="0"/>
          </a:p>
        </p:txBody>
      </p:sp>
      <p:sp>
        <p:nvSpPr>
          <p:cNvPr id="4" name="Shape 2"/>
          <p:cNvSpPr/>
          <p:nvPr/>
        </p:nvSpPr>
        <p:spPr>
          <a:xfrm>
            <a:off x="10104120" y="384048"/>
            <a:ext cx="1554480" cy="384048"/>
          </a:xfrm>
          <a:prstGeom prst="roundRect">
            <a:avLst>
              <a:gd name="adj" fmla="val 50000"/>
            </a:avLst>
          </a:prstGeom>
          <a:solidFill>
            <a:srgbClr val="DCA84B"/>
          </a:solidFill>
          <a:ln/>
        </p:spPr>
      </p:sp>
      <p:sp>
        <p:nvSpPr>
          <p:cNvPr id="5" name="Text 3"/>
          <p:cNvSpPr txBox="1"/>
          <p:nvPr/>
        </p:nvSpPr>
        <p:spPr>
          <a:xfrm>
            <a:off x="10104120" y="384048"/>
            <a:ext cx="1554480" cy="384048"/>
          </a:xfrm>
          <a:prstGeom prst="rect">
            <a:avLst/>
          </a:prstGeom>
          <a:noFill/>
          <a:ln/>
        </p:spPr>
        <p:txBody>
          <a:bodyPr wrap="square" lIns="0" tIns="0" rIns="0" bIns="0" rtlCol="0" anchor="ctr"/>
          <a:lstStyle/>
          <a:p>
            <a:pPr algn="ctr" indent="0" marL="0">
              <a:buNone/>
            </a:pPr>
            <a:r>
              <a:rPr lang="en-US" sz="1200" b="1" dirty="0">
                <a:solidFill>
                  <a:srgbClr val="10213A"/>
                </a:solidFill>
                <a:latin typeface="Calibri" pitchFamily="34" charset="0"/>
                <a:ea typeface="Calibri" pitchFamily="34" charset="-122"/>
                <a:cs typeface="Calibri" pitchFamily="34" charset="-120"/>
              </a:rPr>
              <a:t>Presenter B</a:t>
            </a:r>
            <a:endParaRPr lang="en-US" sz="1200" dirty="0"/>
          </a:p>
        </p:txBody>
      </p:sp>
      <p:sp>
        <p:nvSpPr>
          <p:cNvPr id="6" name="Text 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10</a:t>
            </a:r>
            <a:endParaRPr lang="en-US" sz="1000" dirty="0"/>
          </a:p>
        </p:txBody>
      </p:sp>
      <p:graphicFrame>
        <p:nvGraphicFramePr>
          <p:cNvPr id="7" name="Chart 0" descr=""/>
          <p:cNvGraphicFramePr/>
          <p:nvPr/>
        </p:nvGraphicFramePr>
        <p:xfrm>
          <a:off x="457200" y="1508760"/>
          <a:ext cx="7680960" cy="47548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8595360" y="1645920"/>
            <a:ext cx="3108960" cy="731520"/>
          </a:xfrm>
          <a:prstGeom prst="rect">
            <a:avLst/>
          </a:prstGeom>
          <a:noFill/>
          <a:ln/>
        </p:spPr>
        <p:txBody>
          <a:bodyPr wrap="square" lIns="0" tIns="0" rIns="0" bIns="0" rtlCol="0" anchor="ctr"/>
          <a:lstStyle/>
          <a:p>
            <a:pPr indent="0" marL="0">
              <a:buNone/>
            </a:pPr>
            <a:r>
              <a:rPr lang="en-US" sz="4400" b="1" dirty="0">
                <a:solidFill>
                  <a:srgbClr val="0F8480"/>
                </a:solidFill>
                <a:latin typeface="Calibri" pitchFamily="34" charset="0"/>
                <a:ea typeface="Calibri" pitchFamily="34" charset="-122"/>
                <a:cs typeface="Calibri" pitchFamily="34" charset="-120"/>
              </a:rPr>
              <a:t>94.58%</a:t>
            </a:r>
            <a:endParaRPr lang="en-US" sz="4400" dirty="0"/>
          </a:p>
        </p:txBody>
      </p:sp>
      <p:sp>
        <p:nvSpPr>
          <p:cNvPr id="9" name="Text 6"/>
          <p:cNvSpPr txBox="1"/>
          <p:nvPr/>
        </p:nvSpPr>
        <p:spPr>
          <a:xfrm>
            <a:off x="8595360" y="2377440"/>
            <a:ext cx="3108960" cy="5486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Random Forest mean CV F1 (±0.62 pp across folds)</a:t>
            </a:r>
            <a:endParaRPr lang="en-US" sz="1400" dirty="0"/>
          </a:p>
        </p:txBody>
      </p:sp>
      <p:sp>
        <p:nvSpPr>
          <p:cNvPr id="10" name="Text 7"/>
          <p:cNvSpPr txBox="1"/>
          <p:nvPr/>
        </p:nvSpPr>
        <p:spPr>
          <a:xfrm>
            <a:off x="8595360" y="3154680"/>
            <a:ext cx="3108960" cy="731520"/>
          </a:xfrm>
          <a:prstGeom prst="rect">
            <a:avLst/>
          </a:prstGeom>
          <a:noFill/>
          <a:ln/>
        </p:spPr>
        <p:txBody>
          <a:bodyPr wrap="square" lIns="0" tIns="0" rIns="0" bIns="0" rtlCol="0" anchor="ctr"/>
          <a:lstStyle/>
          <a:p>
            <a:pPr indent="0" marL="0">
              <a:buNone/>
            </a:pPr>
            <a:r>
              <a:rPr lang="en-US" sz="4400" b="1" dirty="0">
                <a:solidFill>
                  <a:srgbClr val="10213A"/>
                </a:solidFill>
                <a:latin typeface="Calibri" pitchFamily="34" charset="0"/>
                <a:ea typeface="Calibri" pitchFamily="34" charset="-122"/>
                <a:cs typeface="Calibri" pitchFamily="34" charset="-120"/>
              </a:rPr>
              <a:t>94.57%</a:t>
            </a:r>
            <a:endParaRPr lang="en-US" sz="4400" dirty="0"/>
          </a:p>
        </p:txBody>
      </p:sp>
      <p:sp>
        <p:nvSpPr>
          <p:cNvPr id="11" name="Text 8"/>
          <p:cNvSpPr txBox="1"/>
          <p:nvPr/>
        </p:nvSpPr>
        <p:spPr>
          <a:xfrm>
            <a:off x="8595360" y="3886200"/>
            <a:ext cx="3108960" cy="5486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Gradient Boosting: effectively tied, only 0.01 pp behind</a:t>
            </a:r>
            <a:endParaRPr lang="en-US" sz="1400" dirty="0"/>
          </a:p>
        </p:txBody>
      </p:sp>
      <p:sp>
        <p:nvSpPr>
          <p:cNvPr id="12" name="Text 9"/>
          <p:cNvSpPr txBox="1"/>
          <p:nvPr/>
        </p:nvSpPr>
        <p:spPr>
          <a:xfrm>
            <a:off x="8595360" y="4754880"/>
            <a:ext cx="3108960" cy="109728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Selected before any test result was examined. Fold SD shows spread, not a confidence interval.</a:t>
            </a:r>
            <a:endParaRPr lang="en-US" sz="1300" dirty="0"/>
          </a:p>
        </p:txBody>
      </p:sp>
      <p:sp>
        <p:nvSpPr>
          <p:cNvPr id="13" name="Text 10"/>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100" i="1" dirty="0">
                <a:solidFill>
                  <a:srgbClr val="7A858E"/>
                </a:solidFill>
                <a:latin typeface="Calibri" pitchFamily="34" charset="0"/>
                <a:ea typeface="Calibri" pitchFamily="34" charset="-122"/>
                <a:cs typeface="Calibri" pitchFamily="34" charset="-120"/>
              </a:rPr>
              <a:t>Source: results/cv_summary.csv and deep_learning_cv.csv. Training-fold F1 for the forest is 98.8%, a normal generalisation gap.</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Test performance: every model, same 2,210 records</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Phishing is the positive class; best value in each column highlighted</a:t>
            </a:r>
            <a:endParaRPr lang="en-US" sz="1600" dirty="0"/>
          </a:p>
        </p:txBody>
      </p:sp>
      <p:sp>
        <p:nvSpPr>
          <p:cNvPr id="4" name="Shape 2"/>
          <p:cNvSpPr/>
          <p:nvPr/>
        </p:nvSpPr>
        <p:spPr>
          <a:xfrm>
            <a:off x="10104120" y="384048"/>
            <a:ext cx="1554480" cy="384048"/>
          </a:xfrm>
          <a:prstGeom prst="roundRect">
            <a:avLst>
              <a:gd name="adj" fmla="val 50000"/>
            </a:avLst>
          </a:prstGeom>
          <a:solidFill>
            <a:srgbClr val="DCA84B"/>
          </a:solidFill>
          <a:ln/>
        </p:spPr>
      </p:sp>
      <p:sp>
        <p:nvSpPr>
          <p:cNvPr id="5" name="Text 3"/>
          <p:cNvSpPr txBox="1"/>
          <p:nvPr/>
        </p:nvSpPr>
        <p:spPr>
          <a:xfrm>
            <a:off x="10104120" y="384048"/>
            <a:ext cx="1554480" cy="384048"/>
          </a:xfrm>
          <a:prstGeom prst="rect">
            <a:avLst/>
          </a:prstGeom>
          <a:noFill/>
          <a:ln/>
        </p:spPr>
        <p:txBody>
          <a:bodyPr wrap="square" lIns="0" tIns="0" rIns="0" bIns="0" rtlCol="0" anchor="ctr"/>
          <a:lstStyle/>
          <a:p>
            <a:pPr algn="ctr" indent="0" marL="0">
              <a:buNone/>
            </a:pPr>
            <a:r>
              <a:rPr lang="en-US" sz="1200" b="1" dirty="0">
                <a:solidFill>
                  <a:srgbClr val="10213A"/>
                </a:solidFill>
                <a:latin typeface="Calibri" pitchFamily="34" charset="0"/>
                <a:ea typeface="Calibri" pitchFamily="34" charset="-122"/>
                <a:cs typeface="Calibri" pitchFamily="34" charset="-120"/>
              </a:rPr>
              <a:t>Presenter B</a:t>
            </a:r>
            <a:endParaRPr lang="en-US" sz="1200" dirty="0"/>
          </a:p>
        </p:txBody>
      </p:sp>
      <p:sp>
        <p:nvSpPr>
          <p:cNvPr id="6" name="Text 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514600"/>
                <a:gridCol w="1325880"/>
                <a:gridCol w="1234440"/>
                <a:gridCol w="1234440"/>
                <a:gridCol w="1234440"/>
                <a:gridCol w="2286000"/>
                <a:gridCol w="1234440"/>
              </a:tblGrid>
              <a:tr h="3383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Family</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Accuracy</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Precision</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Recall</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F1 [95% CI]</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ROC AUC</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r>
              <a:tr h="338328">
                <a:tc>
                  <a:txBody>
                    <a:bodyPr/>
                    <a:lstStyle/>
                    <a:p>
                      <a:pPr indent="0" marL="0">
                        <a:buNone/>
                      </a:pPr>
                      <a:r>
                        <a:rPr lang="en-US" sz="1250" b="1" dirty="0">
                          <a:solidFill>
                            <a:srgbClr val="1B2733"/>
                          </a:solidFill>
                          <a:latin typeface="Calibri" pitchFamily="34" charset="0"/>
                          <a:ea typeface="Calibri" pitchFamily="34" charset="-122"/>
                          <a:cs typeface="Calibri" pitchFamily="34" charset="-120"/>
                        </a:rPr>
                        <a:t>Random Forest</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DF0EE"/>
                    </a:solidFill>
                  </a:tcPr>
                </a:tc>
                <a:tc>
                  <a:txBody>
                    <a:bodyPr/>
                    <a:lstStyle/>
                    <a:p>
                      <a:pPr indent="0" marL="0">
                        <a:buNone/>
                      </a:pPr>
                      <a:r>
                        <a:rPr lang="en-US" sz="1250" dirty="0">
                          <a:solidFill>
                            <a:srgbClr val="5B6770"/>
                          </a:solidFill>
                          <a:latin typeface="Calibri" pitchFamily="34" charset="0"/>
                          <a:ea typeface="Calibri" pitchFamily="34" charset="-122"/>
                          <a:cs typeface="Calibri" pitchFamily="34" charset="-120"/>
                        </a:rPr>
                        <a:t>Required</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DF0EE"/>
                    </a:solidFill>
                  </a:tcPr>
                </a:tc>
                <a:tc>
                  <a:txBody>
                    <a:bodyPr/>
                    <a:lstStyle/>
                    <a:p>
                      <a:pPr indent="0" marL="0">
                        <a:buNone/>
                      </a:pPr>
                      <a:r>
                        <a:rPr lang="en-US" sz="1250" b="1" dirty="0">
                          <a:solidFill>
                            <a:srgbClr val="0F8480"/>
                          </a:solidFill>
                          <a:latin typeface="Calibri" pitchFamily="34" charset="0"/>
                          <a:ea typeface="Calibri" pitchFamily="34" charset="-122"/>
                          <a:cs typeface="Calibri" pitchFamily="34" charset="-120"/>
                        </a:rPr>
                        <a:t>96.38%</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DF0EE"/>
                    </a:solidFill>
                  </a:tcPr>
                </a:tc>
                <a:tc>
                  <a:txBody>
                    <a:bodyPr/>
                    <a:lstStyle/>
                    <a:p>
                      <a:pPr indent="0" marL="0">
                        <a:buNone/>
                      </a:pPr>
                      <a:r>
                        <a:rPr lang="en-US" sz="1250" b="1" dirty="0">
                          <a:solidFill>
                            <a:srgbClr val="1B2733"/>
                          </a:solidFill>
                          <a:latin typeface="Calibri" pitchFamily="34" charset="0"/>
                          <a:ea typeface="Calibri" pitchFamily="34" charset="-122"/>
                          <a:cs typeface="Calibri" pitchFamily="34" charset="-120"/>
                        </a:rPr>
                        <a:t>96.10%</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DF0EE"/>
                    </a:solidFill>
                  </a:tcPr>
                </a:tc>
                <a:tc>
                  <a:txBody>
                    <a:bodyPr/>
                    <a:lstStyle/>
                    <a:p>
                      <a:pPr indent="0" marL="0">
                        <a:buNone/>
                      </a:pPr>
                      <a:r>
                        <a:rPr lang="en-US" sz="1250" b="1" dirty="0">
                          <a:solidFill>
                            <a:srgbClr val="0F8480"/>
                          </a:solidFill>
                          <a:latin typeface="Calibri" pitchFamily="34" charset="0"/>
                          <a:ea typeface="Calibri" pitchFamily="34" charset="-122"/>
                          <a:cs typeface="Calibri" pitchFamily="34" charset="-120"/>
                        </a:rPr>
                        <a:t>95.71%</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DF0EE"/>
                    </a:solidFill>
                  </a:tcPr>
                </a:tc>
                <a:tc>
                  <a:txBody>
                    <a:bodyPr/>
                    <a:lstStyle/>
                    <a:p>
                      <a:pPr indent="0" marL="0">
                        <a:buNone/>
                      </a:pPr>
                      <a:r>
                        <a:rPr lang="en-US" sz="1250" b="1" dirty="0">
                          <a:solidFill>
                            <a:srgbClr val="0F8480"/>
                          </a:solidFill>
                          <a:latin typeface="Calibri" pitchFamily="34" charset="0"/>
                          <a:ea typeface="Calibri" pitchFamily="34" charset="-122"/>
                          <a:cs typeface="Calibri" pitchFamily="34" charset="-120"/>
                        </a:rPr>
                        <a:t>95.91%  [94.3–97.3]</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DF0EE"/>
                    </a:solidFill>
                  </a:tcPr>
                </a:tc>
                <a:tc>
                  <a:txBody>
                    <a:bodyPr/>
                    <a:lstStyle/>
                    <a:p>
                      <a:pPr indent="0" marL="0">
                        <a:buNone/>
                      </a:pPr>
                      <a:r>
                        <a:rPr lang="en-US" sz="1250" b="1" dirty="0">
                          <a:solidFill>
                            <a:srgbClr val="1B2733"/>
                          </a:solidFill>
                          <a:latin typeface="Calibri" pitchFamily="34" charset="0"/>
                          <a:ea typeface="Calibri" pitchFamily="34" charset="-122"/>
                          <a:cs typeface="Calibri" pitchFamily="34" charset="-120"/>
                        </a:rPr>
                        <a:t>0.993</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DF0EE"/>
                    </a:solidFill>
                  </a:tcPr>
                </a:tc>
              </a:tr>
              <a:tr h="338328">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SVM (RBF)</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5B6770"/>
                          </a:solidFill>
                          <a:latin typeface="Calibri" pitchFamily="34" charset="0"/>
                          <a:ea typeface="Calibri" pitchFamily="34" charset="-122"/>
                          <a:cs typeface="Calibri" pitchFamily="34" charset="-120"/>
                        </a:rPr>
                        <a:t>Extra ML</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95.38%</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96.11%</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93.36%</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94.72%  [92.8–96.5]</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0.992</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38328">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Deep ANN (3 layers)</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5B6770"/>
                          </a:solidFill>
                          <a:latin typeface="Calibri" pitchFamily="34" charset="0"/>
                          <a:ea typeface="Calibri" pitchFamily="34" charset="-122"/>
                          <a:cs typeface="Calibri" pitchFamily="34" charset="-120"/>
                        </a:rPr>
                        <a:t>Deep learning</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95.07%</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8480"/>
                          </a:solidFill>
                          <a:latin typeface="Calibri" pitchFamily="34" charset="0"/>
                          <a:ea typeface="Calibri" pitchFamily="34" charset="-122"/>
                          <a:cs typeface="Calibri" pitchFamily="34" charset="-120"/>
                        </a:rPr>
                        <a:t>97.18%</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91.52%</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94.27%  [92.3–96.1]</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0.993</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38328">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Gradient Boosting</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5B6770"/>
                          </a:solidFill>
                          <a:latin typeface="Calibri" pitchFamily="34" charset="0"/>
                          <a:ea typeface="Calibri" pitchFamily="34" charset="-122"/>
                          <a:cs typeface="Calibri" pitchFamily="34" charset="-120"/>
                        </a:rPr>
                        <a:t>Extra ML</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94.89%</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94.46%</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93.97%</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94.21%  [92.4–96.1]</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8480"/>
                          </a:solidFill>
                          <a:latin typeface="Calibri" pitchFamily="34" charset="0"/>
                          <a:ea typeface="Calibri" pitchFamily="34" charset="-122"/>
                          <a:cs typeface="Calibri" pitchFamily="34" charset="-120"/>
                        </a:rPr>
                        <a:t>0.993</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38328">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Multilayer ANN</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5B6770"/>
                          </a:solidFill>
                          <a:latin typeface="Calibri" pitchFamily="34" charset="0"/>
                          <a:ea typeface="Calibri" pitchFamily="34" charset="-122"/>
                          <a:cs typeface="Calibri" pitchFamily="34" charset="-120"/>
                        </a:rPr>
                        <a:t>Required</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94.39%</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95.05%</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92.13%</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93.57%  [91.5–95.6]</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0.991</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38328">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k-Nearest Neighbours</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5B6770"/>
                          </a:solidFill>
                          <a:latin typeface="Calibri" pitchFamily="34" charset="0"/>
                          <a:ea typeface="Calibri" pitchFamily="34" charset="-122"/>
                          <a:cs typeface="Calibri" pitchFamily="34" charset="-120"/>
                        </a:rPr>
                        <a:t>Extra ML</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93.98%</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94.43%</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91.83%</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93.11%  [91.2–94.9]</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0.985</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38328">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LSTM (bidirectional)</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5B6770"/>
                          </a:solidFill>
                          <a:latin typeface="Calibri" pitchFamily="34" charset="0"/>
                          <a:ea typeface="Calibri" pitchFamily="34" charset="-122"/>
                          <a:cs typeface="Calibri" pitchFamily="34" charset="-120"/>
                        </a:rPr>
                        <a:t>Deep learning</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93.89%</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94.05%</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92.03%</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93.03%  [91.1–94.9]</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0.989</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38328">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Simple RNN (bidirectional)</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5B6770"/>
                          </a:solidFill>
                          <a:latin typeface="Calibri" pitchFamily="34" charset="0"/>
                          <a:ea typeface="Calibri" pitchFamily="34" charset="-122"/>
                          <a:cs typeface="Calibri" pitchFamily="34" charset="-120"/>
                        </a:rPr>
                        <a:t>Deep learning</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93.67%</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93.20%</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92.44%</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92.82%  [90.6–94.9]</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0.988</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38328">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Logistic Regression</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5B6770"/>
                          </a:solidFill>
                          <a:latin typeface="Calibri" pitchFamily="34" charset="0"/>
                          <a:ea typeface="Calibri" pitchFamily="34" charset="-122"/>
                          <a:cs typeface="Calibri" pitchFamily="34" charset="-120"/>
                        </a:rPr>
                        <a:t>Extra ML</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93.35%</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93.06%</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91.83%</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92.44%  [90.2–94.5]</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0.986</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38328">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Decision Tree</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5B6770"/>
                          </a:solidFill>
                          <a:latin typeface="Calibri" pitchFamily="34" charset="0"/>
                          <a:ea typeface="Calibri" pitchFamily="34" charset="-122"/>
                          <a:cs typeface="Calibri" pitchFamily="34" charset="-120"/>
                        </a:rPr>
                        <a:t>Required</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93.03%</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93.38%</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90.70%</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92.02%  [89.7–94.1]</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0.958</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38328">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Categorical NB</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5B6770"/>
                          </a:solidFill>
                          <a:latin typeface="Calibri" pitchFamily="34" charset="0"/>
                          <a:ea typeface="Calibri" pitchFamily="34" charset="-122"/>
                          <a:cs typeface="Calibri" pitchFamily="34" charset="-120"/>
                        </a:rPr>
                        <a:t>Required</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92.94%</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93.09%</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90.81%</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91.93%  [89.8–94.0]</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0.981</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38328">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Majority baseline</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5B6770"/>
                          </a:solidFill>
                          <a:latin typeface="Calibri" pitchFamily="34" charset="0"/>
                          <a:ea typeface="Calibri" pitchFamily="34" charset="-122"/>
                          <a:cs typeface="Calibri" pitchFamily="34" charset="-120"/>
                        </a:rPr>
                        <a:t>Baseline</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55.70%</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0.00%</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0.00%</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0.00%</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0.500</a:t>
                      </a:r>
                      <a:endParaRPr lang="en-US" sz="1250" dirty="0">
                        <a:latin typeface="Calibri" charset="0"/>
                        <a:ea typeface="Calibri" charset="0"/>
                        <a:cs typeface="Calibri" charset="0"/>
                      </a:endParaRPr>
                    </a:p>
                  </a:txBody>
                  <a:tcPr marL="73152" marR="73152"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6144768"/>
            <a:ext cx="10424160" cy="320040"/>
          </a:xfrm>
          <a:prstGeom prst="rect">
            <a:avLst/>
          </a:prstGeom>
          <a:noFill/>
          <a:ln/>
        </p:spPr>
        <p:txBody>
          <a:bodyPr wrap="square" lIns="0" tIns="0" rIns="0" bIns="0" rtlCol="0" anchor="ctr"/>
          <a:lstStyle/>
          <a:p>
            <a:pPr indent="0" marL="0">
              <a:buNone/>
            </a:pPr>
            <a:r>
              <a:rPr lang="en-US" sz="1100" i="1" dirty="0">
                <a:solidFill>
                  <a:srgbClr val="7A858E"/>
                </a:solidFill>
                <a:latin typeface="Calibri" pitchFamily="34" charset="0"/>
                <a:ea typeface="Calibri" pitchFamily="34" charset="-122"/>
                <a:cs typeface="Calibri" pitchFamily="34" charset="-120"/>
              </a:rPr>
              <a:t>Precision = correct alerts · Recall = phishing caught · F1 = balance of both. The baseline scores 55.70% accuracy while catching no phishing. Source: results/metrics.csv.</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ROC curves: ranking quality across all thresholds</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Zoomed to the top-left corner, where the models differ</a:t>
            </a:r>
            <a:endParaRPr lang="en-US" sz="1600" dirty="0"/>
          </a:p>
        </p:txBody>
      </p:sp>
      <p:sp>
        <p:nvSpPr>
          <p:cNvPr id="4" name="Shape 2"/>
          <p:cNvSpPr/>
          <p:nvPr/>
        </p:nvSpPr>
        <p:spPr>
          <a:xfrm>
            <a:off x="10104120" y="384048"/>
            <a:ext cx="1554480" cy="384048"/>
          </a:xfrm>
          <a:prstGeom prst="roundRect">
            <a:avLst>
              <a:gd name="adj" fmla="val 50000"/>
            </a:avLst>
          </a:prstGeom>
          <a:solidFill>
            <a:srgbClr val="DCA84B"/>
          </a:solidFill>
          <a:ln/>
        </p:spPr>
      </p:sp>
      <p:sp>
        <p:nvSpPr>
          <p:cNvPr id="5" name="Text 3"/>
          <p:cNvSpPr txBox="1"/>
          <p:nvPr/>
        </p:nvSpPr>
        <p:spPr>
          <a:xfrm>
            <a:off x="10104120" y="384048"/>
            <a:ext cx="1554480" cy="384048"/>
          </a:xfrm>
          <a:prstGeom prst="rect">
            <a:avLst/>
          </a:prstGeom>
          <a:noFill/>
          <a:ln/>
        </p:spPr>
        <p:txBody>
          <a:bodyPr wrap="square" lIns="0" tIns="0" rIns="0" bIns="0" rtlCol="0" anchor="ctr"/>
          <a:lstStyle/>
          <a:p>
            <a:pPr algn="ctr" indent="0" marL="0">
              <a:buNone/>
            </a:pPr>
            <a:r>
              <a:rPr lang="en-US" sz="1200" b="1" dirty="0">
                <a:solidFill>
                  <a:srgbClr val="10213A"/>
                </a:solidFill>
                <a:latin typeface="Calibri" pitchFamily="34" charset="0"/>
                <a:ea typeface="Calibri" pitchFamily="34" charset="-122"/>
                <a:cs typeface="Calibri" pitchFamily="34" charset="-120"/>
              </a:rPr>
              <a:t>Presenter B</a:t>
            </a:r>
            <a:endParaRPr lang="en-US" sz="1200" dirty="0"/>
          </a:p>
        </p:txBody>
      </p:sp>
      <p:sp>
        <p:nvSpPr>
          <p:cNvPr id="6" name="Text 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12</a:t>
            </a:r>
            <a:endParaRPr lang="en-US" sz="1000" dirty="0"/>
          </a:p>
        </p:txBody>
      </p:sp>
      <p:pic>
        <p:nvPicPr>
          <p:cNvPr id="7" name="Image 0" descr="roc_curves_zoom.png">    </p:cNvPr>
          <p:cNvPicPr>
            <a:picLocks noChangeAspect="1"/>
          </p:cNvPicPr>
          <p:nvPr/>
        </p:nvPicPr>
        <p:blipFill>
          <a:blip r:embed="rId1"/>
          <a:stretch>
            <a:fillRect/>
          </a:stretch>
        </p:blipFill>
        <p:spPr>
          <a:xfrm>
            <a:off x="548640" y="1508760"/>
            <a:ext cx="6035040" cy="4690872"/>
          </a:xfrm>
          <a:prstGeom prst="rect">
            <a:avLst/>
          </a:prstGeom>
        </p:spPr>
      </p:pic>
      <p:sp>
        <p:nvSpPr>
          <p:cNvPr id="8" name="Text 5"/>
          <p:cNvSpPr txBox="1"/>
          <p:nvPr/>
        </p:nvSpPr>
        <p:spPr>
          <a:xfrm>
            <a:off x="7040880" y="1645920"/>
            <a:ext cx="4572000" cy="731520"/>
          </a:xfrm>
          <a:prstGeom prst="rect">
            <a:avLst/>
          </a:prstGeom>
          <a:noFill/>
          <a:ln/>
        </p:spPr>
        <p:txBody>
          <a:bodyPr wrap="square" lIns="0" tIns="0" rIns="0" bIns="0" rtlCol="0" anchor="ctr"/>
          <a:lstStyle/>
          <a:p>
            <a:pPr indent="0" marL="0">
              <a:buNone/>
            </a:pPr>
            <a:r>
              <a:rPr lang="en-US" sz="4400" b="1" dirty="0">
                <a:solidFill>
                  <a:srgbClr val="0F8480"/>
                </a:solidFill>
                <a:latin typeface="Calibri" pitchFamily="34" charset="0"/>
                <a:ea typeface="Calibri" pitchFamily="34" charset="-122"/>
                <a:cs typeface="Calibri" pitchFamily="34" charset="-120"/>
              </a:rPr>
              <a:t>0.993</a:t>
            </a:r>
            <a:endParaRPr lang="en-US" sz="4400" dirty="0"/>
          </a:p>
        </p:txBody>
      </p:sp>
      <p:sp>
        <p:nvSpPr>
          <p:cNvPr id="9" name="Text 6"/>
          <p:cNvSpPr txBox="1"/>
          <p:nvPr/>
        </p:nvSpPr>
        <p:spPr>
          <a:xfrm>
            <a:off x="7040880" y="2377440"/>
            <a:ext cx="4572000" cy="5486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ROC AUC for Random Forest and Gradient Boosting</a:t>
            </a:r>
            <a:endParaRPr lang="en-US" sz="1400" dirty="0"/>
          </a:p>
        </p:txBody>
      </p:sp>
      <p:sp>
        <p:nvSpPr>
          <p:cNvPr id="10" name="Text 7"/>
          <p:cNvSpPr txBox="1"/>
          <p:nvPr/>
        </p:nvSpPr>
        <p:spPr>
          <a:xfrm>
            <a:off x="7040880" y="3063240"/>
            <a:ext cx="4572000" cy="731520"/>
          </a:xfrm>
          <a:prstGeom prst="rect">
            <a:avLst/>
          </a:prstGeom>
          <a:noFill/>
          <a:ln/>
        </p:spPr>
        <p:txBody>
          <a:bodyPr wrap="square" lIns="0" tIns="0" rIns="0" bIns="0" rtlCol="0" anchor="ctr"/>
          <a:lstStyle/>
          <a:p>
            <a:pPr indent="0" marL="0">
              <a:buNone/>
            </a:pPr>
            <a:r>
              <a:rPr lang="en-US" sz="4400" b="1" dirty="0">
                <a:solidFill>
                  <a:srgbClr val="10213A"/>
                </a:solidFill>
                <a:latin typeface="Calibri" pitchFamily="34" charset="0"/>
                <a:ea typeface="Calibri" pitchFamily="34" charset="-122"/>
                <a:cs typeface="Calibri" pitchFamily="34" charset="-120"/>
              </a:rPr>
              <a:t>≥ 0.958</a:t>
            </a:r>
            <a:endParaRPr lang="en-US" sz="4400" dirty="0"/>
          </a:p>
        </p:txBody>
      </p:sp>
      <p:sp>
        <p:nvSpPr>
          <p:cNvPr id="11" name="Text 8"/>
          <p:cNvSpPr txBox="1"/>
          <p:nvPr/>
        </p:nvSpPr>
        <p:spPr>
          <a:xfrm>
            <a:off x="7040880" y="3794760"/>
            <a:ext cx="4572000" cy="5486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every learned model; chance is 0.500</a:t>
            </a:r>
            <a:endParaRPr lang="en-US" sz="1400" dirty="0"/>
          </a:p>
        </p:txBody>
      </p:sp>
      <p:sp>
        <p:nvSpPr>
          <p:cNvPr id="12" name="Shape 9"/>
          <p:cNvSpPr/>
          <p:nvPr/>
        </p:nvSpPr>
        <p:spPr>
          <a:xfrm>
            <a:off x="7040880" y="4480560"/>
            <a:ext cx="4572000" cy="1645920"/>
          </a:xfrm>
          <a:prstGeom prst="roundRect">
            <a:avLst>
              <a:gd name="adj" fmla="val 4444"/>
            </a:avLst>
          </a:prstGeom>
          <a:solidFill>
            <a:srgbClr val="DDF0EE"/>
          </a:solidFill>
          <a:ln w="9525">
            <a:solidFill>
              <a:srgbClr val="D5DDE5"/>
            </a:solidFill>
            <a:prstDash val="solid"/>
          </a:ln>
        </p:spPr>
      </p:sp>
      <p:sp>
        <p:nvSpPr>
          <p:cNvPr id="13" name="Text 10"/>
          <p:cNvSpPr txBox="1"/>
          <p:nvPr/>
        </p:nvSpPr>
        <p:spPr>
          <a:xfrm>
            <a:off x="7269480" y="4572000"/>
            <a:ext cx="4160520" cy="1463040"/>
          </a:xfrm>
          <a:prstGeom prst="rect">
            <a:avLst/>
          </a:prstGeom>
          <a:noFill/>
          <a:ln/>
        </p:spPr>
        <p:txBody>
          <a:bodyPr wrap="square" lIns="0" tIns="0" rIns="0" bIns="0" rtlCol="0" anchor="ctr"/>
          <a:lstStyle/>
          <a:p>
            <a:pPr indent="0" marL="0">
              <a:buNone/>
            </a:pPr>
            <a:r>
              <a:rPr lang="en-US" sz="1400" dirty="0">
                <a:solidFill>
                  <a:srgbClr val="1B2733"/>
                </a:solidFill>
                <a:latin typeface="Calibri" pitchFamily="34" charset="0"/>
                <a:ea typeface="Calibri" pitchFamily="34" charset="-122"/>
                <a:cs typeface="Calibri" pitchFamily="34" charset="-120"/>
              </a:rPr>
              <a:t>AUC shows how well scores rank phishing above legitimate sites. A deployment would still choose a threshold based on the cost of misses versus false alarms.</a:t>
            </a:r>
            <a:endParaRPr lang="en-US" sz="1400" dirty="0"/>
          </a:p>
        </p:txBody>
      </p:sp>
      <p:sp>
        <p:nvSpPr>
          <p:cNvPr id="14" name="Text 11"/>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100" i="1" dirty="0">
                <a:solidFill>
                  <a:srgbClr val="7A858E"/>
                </a:solidFill>
                <a:latin typeface="Calibri" pitchFamily="34" charset="0"/>
                <a:ea typeface="Calibri" pitchFamily="34" charset="-122"/>
                <a:cs typeface="Calibri" pitchFamily="34" charset="-120"/>
              </a:rPr>
              <a:t>Source: results/predictions.csv and deep_learning_predictions.csv; full-range curves in results/roc_curves.png.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The forest’s 80 errors still matter</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Confusion matrix on 2,210 test records makes the security consequences visible</a:t>
            </a:r>
            <a:endParaRPr lang="en-US" sz="1600" dirty="0"/>
          </a:p>
        </p:txBody>
      </p:sp>
      <p:sp>
        <p:nvSpPr>
          <p:cNvPr id="4" name="Shape 2"/>
          <p:cNvSpPr/>
          <p:nvPr/>
        </p:nvSpPr>
        <p:spPr>
          <a:xfrm>
            <a:off x="10104120" y="384048"/>
            <a:ext cx="1554480" cy="384048"/>
          </a:xfrm>
          <a:prstGeom prst="roundRect">
            <a:avLst>
              <a:gd name="adj" fmla="val 50000"/>
            </a:avLst>
          </a:prstGeom>
          <a:solidFill>
            <a:srgbClr val="DCA84B"/>
          </a:solidFill>
          <a:ln/>
        </p:spPr>
      </p:sp>
      <p:sp>
        <p:nvSpPr>
          <p:cNvPr id="5" name="Text 3"/>
          <p:cNvSpPr txBox="1"/>
          <p:nvPr/>
        </p:nvSpPr>
        <p:spPr>
          <a:xfrm>
            <a:off x="10104120" y="384048"/>
            <a:ext cx="1554480" cy="384048"/>
          </a:xfrm>
          <a:prstGeom prst="rect">
            <a:avLst/>
          </a:prstGeom>
          <a:noFill/>
          <a:ln/>
        </p:spPr>
        <p:txBody>
          <a:bodyPr wrap="square" lIns="0" tIns="0" rIns="0" bIns="0" rtlCol="0" anchor="ctr"/>
          <a:lstStyle/>
          <a:p>
            <a:pPr algn="ctr" indent="0" marL="0">
              <a:buNone/>
            </a:pPr>
            <a:r>
              <a:rPr lang="en-US" sz="1200" b="1" dirty="0">
                <a:solidFill>
                  <a:srgbClr val="10213A"/>
                </a:solidFill>
                <a:latin typeface="Calibri" pitchFamily="34" charset="0"/>
                <a:ea typeface="Calibri" pitchFamily="34" charset="-122"/>
                <a:cs typeface="Calibri" pitchFamily="34" charset="-120"/>
              </a:rPr>
              <a:t>Presenter B</a:t>
            </a:r>
            <a:endParaRPr lang="en-US" sz="1200" dirty="0"/>
          </a:p>
        </p:txBody>
      </p:sp>
      <p:sp>
        <p:nvSpPr>
          <p:cNvPr id="6" name="Text 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852160" cy="914400"/>
        </p:xfrm>
        <a:graphic>
          <a:graphicData uri="http://schemas.openxmlformats.org/drawingml/2006/table">
            <a:tbl>
              <a:tblPr/>
              <a:tblGrid>
                <a:gridCol w="2011680"/>
                <a:gridCol w="1920240"/>
                <a:gridCol w="1920240"/>
              </a:tblGrid>
              <a:tr h="50292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Actual / Predicted</a:t>
                      </a:r>
                      <a:endParaRPr lang="en-US" sz="1600" dirty="0">
                        <a:latin typeface="Calibri" charset="0"/>
                        <a:ea typeface="Calibri" charset="0"/>
                        <a:cs typeface="Calibri" charset="0"/>
                      </a:endParaRPr>
                    </a:p>
                  </a:txBody>
                  <a:tcPr marL="91440" marR="91440" marT="45720" marB="4572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10213A"/>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Legitimate</a:t>
                      </a:r>
                      <a:endParaRPr lang="en-US" sz="1600" dirty="0">
                        <a:latin typeface="Calibri" charset="0"/>
                        <a:ea typeface="Calibri" charset="0"/>
                        <a:cs typeface="Calibri" charset="0"/>
                      </a:endParaRPr>
                    </a:p>
                  </a:txBody>
                  <a:tcPr marL="91440" marR="91440" marT="45720" marB="4572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10213A"/>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Phishing</a:t>
                      </a:r>
                      <a:endParaRPr lang="en-US" sz="1600" dirty="0">
                        <a:latin typeface="Calibri" charset="0"/>
                        <a:ea typeface="Calibri" charset="0"/>
                        <a:cs typeface="Calibri" charset="0"/>
                      </a:endParaRPr>
                    </a:p>
                  </a:txBody>
                  <a:tcPr marL="91440" marR="91440" marT="45720" marB="4572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10213A"/>
                    </a:solidFill>
                  </a:tcPr>
                </a:tc>
              </a:tr>
              <a:tr h="1234440">
                <a:tc>
                  <a:txBody>
                    <a:bodyPr/>
                    <a:lstStyle/>
                    <a:p>
                      <a:pPr algn="ctr" indent="0" marL="0">
                        <a:buNone/>
                      </a:pPr>
                      <a:r>
                        <a:rPr lang="en-US" sz="1600" b="1" dirty="0">
                          <a:solidFill>
                            <a:srgbClr val="1B2733"/>
                          </a:solidFill>
                          <a:latin typeface="Calibri" pitchFamily="34" charset="0"/>
                          <a:ea typeface="Calibri" pitchFamily="34" charset="-122"/>
                          <a:cs typeface="Calibri" pitchFamily="34" charset="-120"/>
                        </a:rPr>
                        <a:t>Legitimate</a:t>
                      </a:r>
                      <a:endParaRPr lang="en-US" sz="1600" dirty="0">
                        <a:latin typeface="Calibri" charset="0"/>
                        <a:ea typeface="Calibri" charset="0"/>
                        <a:cs typeface="Calibri" charset="0"/>
                      </a:endParaRPr>
                    </a:p>
                  </a:txBody>
                  <a:tcPr marL="91440" marR="91440" marT="45720" marB="4572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733"/>
                          </a:solidFill>
                          <a:latin typeface="Calibri" pitchFamily="34" charset="0"/>
                          <a:ea typeface="Calibri" pitchFamily="34" charset="-122"/>
                          <a:cs typeface="Calibri" pitchFamily="34" charset="-120"/>
                        </a:rPr>
                        <a:t>1,193</a:t>
                      </a:r>
                      <a:endParaRPr lang="en-US" sz="1600" dirty="0">
                        <a:latin typeface="Calibri" charset="0"/>
                        <a:ea typeface="Calibri" charset="0"/>
                        <a:cs typeface="Calibri" charset="0"/>
                      </a:endParaRPr>
                    </a:p>
                    <a:p>
                      <a:pPr algn="ctr" indent="0" marL="0">
                        <a:buNone/>
                      </a:pPr>
                      <a:r>
                        <a:rPr lang="en-US" sz="1600" dirty="0">
                          <a:solidFill>
                            <a:srgbClr val="1B2733"/>
                          </a:solidFill>
                          <a:latin typeface="Calibri" pitchFamily="34" charset="0"/>
                          <a:ea typeface="Calibri" pitchFamily="34" charset="-122"/>
                          <a:cs typeface="Calibri" pitchFamily="34" charset="-120"/>
                        </a:rPr>
                        <a:t>correctly allowed</a:t>
                      </a:r>
                      <a:endParaRPr lang="en-US" sz="1600" dirty="0">
                        <a:latin typeface="Calibri" charset="0"/>
                        <a:ea typeface="Calibri" charset="0"/>
                        <a:cs typeface="Calibri" charset="0"/>
                      </a:endParaRPr>
                    </a:p>
                  </a:txBody>
                  <a:tcPr marL="91440" marR="91440" marT="45720" marB="4572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DDF0EE"/>
                    </a:solidFill>
                  </a:tcPr>
                </a:tc>
                <a:tc>
                  <a:txBody>
                    <a:bodyPr/>
                    <a:lstStyle/>
                    <a:p>
                      <a:pPr algn="ctr" indent="0" marL="0">
                        <a:buNone/>
                      </a:pPr>
                      <a:r>
                        <a:rPr lang="en-US" sz="1600" b="1" dirty="0">
                          <a:solidFill>
                            <a:srgbClr val="C0463C"/>
                          </a:solidFill>
                          <a:latin typeface="Calibri" pitchFamily="34" charset="0"/>
                          <a:ea typeface="Calibri" pitchFamily="34" charset="-122"/>
                          <a:cs typeface="Calibri" pitchFamily="34" charset="-120"/>
                        </a:rPr>
                        <a:t>38</a:t>
                      </a:r>
                      <a:endParaRPr lang="en-US" sz="1600" dirty="0">
                        <a:latin typeface="Calibri" charset="0"/>
                        <a:ea typeface="Calibri" charset="0"/>
                        <a:cs typeface="Calibri" charset="0"/>
                      </a:endParaRPr>
                    </a:p>
                    <a:p>
                      <a:pPr algn="ctr" indent="0" marL="0">
                        <a:buNone/>
                      </a:pPr>
                      <a:r>
                        <a:rPr lang="en-US" sz="1600" b="1" dirty="0">
                          <a:solidFill>
                            <a:srgbClr val="C0463C"/>
                          </a:solidFill>
                          <a:latin typeface="Calibri" pitchFamily="34" charset="0"/>
                          <a:ea typeface="Calibri" pitchFamily="34" charset="-122"/>
                          <a:cs typeface="Calibri" pitchFamily="34" charset="-120"/>
                        </a:rPr>
                        <a:t>false alarms</a:t>
                      </a:r>
                      <a:endParaRPr lang="en-US" sz="1600" dirty="0">
                        <a:latin typeface="Calibri" charset="0"/>
                        <a:ea typeface="Calibri" charset="0"/>
                        <a:cs typeface="Calibri" charset="0"/>
                      </a:endParaRPr>
                    </a:p>
                  </a:txBody>
                  <a:tcPr marL="91440" marR="91440" marT="45720" marB="4572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8E1DE"/>
                    </a:solidFill>
                  </a:tcPr>
                </a:tc>
              </a:tr>
              <a:tr h="1234440">
                <a:tc>
                  <a:txBody>
                    <a:bodyPr/>
                    <a:lstStyle/>
                    <a:p>
                      <a:pPr algn="ctr" indent="0" marL="0">
                        <a:buNone/>
                      </a:pPr>
                      <a:r>
                        <a:rPr lang="en-US" sz="1600" b="1" dirty="0">
                          <a:solidFill>
                            <a:srgbClr val="1B2733"/>
                          </a:solidFill>
                          <a:latin typeface="Calibri" pitchFamily="34" charset="0"/>
                          <a:ea typeface="Calibri" pitchFamily="34" charset="-122"/>
                          <a:cs typeface="Calibri" pitchFamily="34" charset="-120"/>
                        </a:rPr>
                        <a:t>Phishing</a:t>
                      </a:r>
                      <a:endParaRPr lang="en-US" sz="1600" dirty="0">
                        <a:latin typeface="Calibri" charset="0"/>
                        <a:ea typeface="Calibri" charset="0"/>
                        <a:cs typeface="Calibri" charset="0"/>
                      </a:endParaRPr>
                    </a:p>
                  </a:txBody>
                  <a:tcPr marL="91440" marR="91440" marT="45720" marB="4572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463C"/>
                          </a:solidFill>
                          <a:latin typeface="Calibri" pitchFamily="34" charset="0"/>
                          <a:ea typeface="Calibri" pitchFamily="34" charset="-122"/>
                          <a:cs typeface="Calibri" pitchFamily="34" charset="-120"/>
                        </a:rPr>
                        <a:t>42</a:t>
                      </a:r>
                      <a:endParaRPr lang="en-US" sz="1600" dirty="0">
                        <a:latin typeface="Calibri" charset="0"/>
                        <a:ea typeface="Calibri" charset="0"/>
                        <a:cs typeface="Calibri" charset="0"/>
                      </a:endParaRPr>
                    </a:p>
                    <a:p>
                      <a:pPr algn="ctr" indent="0" marL="0">
                        <a:buNone/>
                      </a:pPr>
                      <a:r>
                        <a:rPr lang="en-US" sz="1600" b="1" dirty="0">
                          <a:solidFill>
                            <a:srgbClr val="C0463C"/>
                          </a:solidFill>
                          <a:latin typeface="Calibri" pitchFamily="34" charset="0"/>
                          <a:ea typeface="Calibri" pitchFamily="34" charset="-122"/>
                          <a:cs typeface="Calibri" pitchFamily="34" charset="-120"/>
                        </a:rPr>
                        <a:t>missed threats</a:t>
                      </a:r>
                      <a:endParaRPr lang="en-US" sz="1600" dirty="0">
                        <a:latin typeface="Calibri" charset="0"/>
                        <a:ea typeface="Calibri" charset="0"/>
                        <a:cs typeface="Calibri" charset="0"/>
                      </a:endParaRPr>
                    </a:p>
                  </a:txBody>
                  <a:tcPr marL="91440" marR="91440" marT="45720" marB="4572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8E1DE"/>
                    </a:solidFill>
                  </a:tcPr>
                </a:tc>
                <a:tc>
                  <a:txBody>
                    <a:bodyPr/>
                    <a:lstStyle/>
                    <a:p>
                      <a:pPr algn="ctr" indent="0" marL="0">
                        <a:buNone/>
                      </a:pPr>
                      <a:r>
                        <a:rPr lang="en-US" sz="1600" dirty="0">
                          <a:solidFill>
                            <a:srgbClr val="1B2733"/>
                          </a:solidFill>
                          <a:latin typeface="Calibri" pitchFamily="34" charset="0"/>
                          <a:ea typeface="Calibri" pitchFamily="34" charset="-122"/>
                          <a:cs typeface="Calibri" pitchFamily="34" charset="-120"/>
                        </a:rPr>
                        <a:t>937</a:t>
                      </a:r>
                      <a:endParaRPr lang="en-US" sz="1600" dirty="0">
                        <a:latin typeface="Calibri" charset="0"/>
                        <a:ea typeface="Calibri" charset="0"/>
                        <a:cs typeface="Calibri" charset="0"/>
                      </a:endParaRPr>
                    </a:p>
                    <a:p>
                      <a:pPr algn="ctr" indent="0" marL="0">
                        <a:buNone/>
                      </a:pPr>
                      <a:r>
                        <a:rPr lang="en-US" sz="1600" dirty="0">
                          <a:solidFill>
                            <a:srgbClr val="1B2733"/>
                          </a:solidFill>
                          <a:latin typeface="Calibri" pitchFamily="34" charset="0"/>
                          <a:ea typeface="Calibri" pitchFamily="34" charset="-122"/>
                          <a:cs typeface="Calibri" pitchFamily="34" charset="-120"/>
                        </a:rPr>
                        <a:t>caught</a:t>
                      </a:r>
                      <a:endParaRPr lang="en-US" sz="1600" dirty="0">
                        <a:latin typeface="Calibri" charset="0"/>
                        <a:ea typeface="Calibri" charset="0"/>
                        <a:cs typeface="Calibri" charset="0"/>
                      </a:endParaRPr>
                    </a:p>
                  </a:txBody>
                  <a:tcPr marL="91440" marR="91440" marT="45720" marB="4572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DDF0EE"/>
                    </a:solidFill>
                  </a:tcPr>
                </a:tc>
              </a:tr>
            </a:tbl>
          </a:graphicData>
        </a:graphic>
      </p:graphicFrame>
      <p:sp>
        <p:nvSpPr>
          <p:cNvPr id="8" name="Text 5"/>
          <p:cNvSpPr txBox="1"/>
          <p:nvPr/>
        </p:nvSpPr>
        <p:spPr>
          <a:xfrm>
            <a:off x="548640" y="4800600"/>
            <a:ext cx="5852160" cy="36576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Recall </a:t>
            </a:r>
            <a:pPr indent="0" marL="0">
              <a:buNone/>
            </a:pPr>
            <a:r>
              <a:rPr lang="en-US" sz="1400" dirty="0">
                <a:solidFill>
                  <a:srgbClr val="1B2733"/>
                </a:solidFill>
                <a:latin typeface="Calibri" pitchFamily="34" charset="0"/>
                <a:ea typeface="Calibri" pitchFamily="34" charset="-122"/>
                <a:cs typeface="Calibri" pitchFamily="34" charset="-120"/>
              </a:rPr>
              <a:t>937 / 979 = 95.71%     </a:t>
            </a:r>
            <a:pPr indent="0" marL="0">
              <a:buNone/>
            </a:pPr>
            <a:r>
              <a:rPr lang="en-US" sz="1400" b="1" dirty="0">
                <a:solidFill>
                  <a:srgbClr val="1B2733"/>
                </a:solidFill>
                <a:latin typeface="Calibri" pitchFamily="34" charset="0"/>
                <a:ea typeface="Calibri" pitchFamily="34" charset="-122"/>
                <a:cs typeface="Calibri" pitchFamily="34" charset="-120"/>
              </a:rPr>
              <a:t>Precision </a:t>
            </a:r>
            <a:pPr indent="0" marL="0">
              <a:buNone/>
            </a:pPr>
            <a:r>
              <a:rPr lang="en-US" sz="1400" dirty="0">
                <a:solidFill>
                  <a:srgbClr val="1B2733"/>
                </a:solidFill>
                <a:latin typeface="Calibri" pitchFamily="34" charset="0"/>
                <a:ea typeface="Calibri" pitchFamily="34" charset="-122"/>
                <a:cs typeface="Calibri" pitchFamily="34" charset="-120"/>
              </a:rPr>
              <a:t>937 / 975 = 96.10%</a:t>
            </a:r>
            <a:endParaRPr lang="en-US" sz="1400" dirty="0"/>
          </a:p>
        </p:txBody>
      </p:sp>
      <p:sp>
        <p:nvSpPr>
          <p:cNvPr id="9" name="Text 6"/>
          <p:cNvSpPr txBox="1"/>
          <p:nvPr/>
        </p:nvSpPr>
        <p:spPr>
          <a:xfrm>
            <a:off x="548640" y="5257800"/>
            <a:ext cx="5852160" cy="64008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4.3% of phishing sites slip through; 3.1% of legitimate sites are wrongly flagged.</a:t>
            </a:r>
            <a:endParaRPr lang="en-US" sz="1400" dirty="0"/>
          </a:p>
        </p:txBody>
      </p:sp>
      <p:sp>
        <p:nvSpPr>
          <p:cNvPr id="10" name="Shape 7"/>
          <p:cNvSpPr/>
          <p:nvPr/>
        </p:nvSpPr>
        <p:spPr>
          <a:xfrm>
            <a:off x="6858000" y="1645920"/>
            <a:ext cx="4754880" cy="4297680"/>
          </a:xfrm>
          <a:prstGeom prst="roundRect">
            <a:avLst>
              <a:gd name="adj" fmla="val 1702"/>
            </a:avLst>
          </a:prstGeom>
          <a:solidFill>
            <a:srgbClr val="FFFFFF"/>
          </a:solidFill>
          <a:ln w="9525">
            <a:solidFill>
              <a:srgbClr val="D5DDE5"/>
            </a:solidFill>
            <a:prstDash val="solid"/>
          </a:ln>
        </p:spPr>
      </p:sp>
      <p:sp>
        <p:nvSpPr>
          <p:cNvPr id="11" name="Text 8"/>
          <p:cNvSpPr txBox="1"/>
          <p:nvPr/>
        </p:nvSpPr>
        <p:spPr>
          <a:xfrm>
            <a:off x="7132320" y="1783080"/>
            <a:ext cx="4297680" cy="411480"/>
          </a:xfrm>
          <a:prstGeom prst="rect">
            <a:avLst/>
          </a:prstGeom>
          <a:noFill/>
          <a:ln/>
        </p:spPr>
        <p:txBody>
          <a:bodyPr wrap="square" lIns="0" tIns="0" rIns="0" bIns="0" rtlCol="0" anchor="ctr"/>
          <a:lstStyle/>
          <a:p>
            <a:pPr indent="0" marL="0">
              <a:buNone/>
            </a:pPr>
            <a:r>
              <a:rPr lang="en-US" sz="1600" b="1" dirty="0">
                <a:solidFill>
                  <a:srgbClr val="10213A"/>
                </a:solidFill>
                <a:latin typeface="Calibri" pitchFamily="34" charset="0"/>
                <a:ea typeface="Calibri" pitchFamily="34" charset="-122"/>
                <a:cs typeface="Calibri" pitchFamily="34" charset="-120"/>
              </a:rPr>
              <a:t>Different models, different error profiles</a:t>
            </a:r>
            <a:endParaRPr lang="en-US" sz="16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7132320" y="2331720"/>
          <a:ext cx="4206240" cy="914400"/>
        </p:xfrm>
        <a:graphic>
          <a:graphicData uri="http://schemas.openxmlformats.org/drawingml/2006/table">
            <a:tbl>
              <a:tblPr/>
              <a:tblGrid>
                <a:gridCol w="2011680"/>
                <a:gridCol w="1005840"/>
                <a:gridCol w="118872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Missed</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False alarms</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r>
              <a:tr h="365760">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42</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38</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Deep ANN</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83</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SVM (RBF)</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65</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37</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Gradient Boosting</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54</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bl>
          </a:graphicData>
        </a:graphic>
      </p:graphicFrame>
      <p:sp>
        <p:nvSpPr>
          <p:cNvPr id="13" name="Text 9"/>
          <p:cNvSpPr txBox="1"/>
          <p:nvPr/>
        </p:nvSpPr>
        <p:spPr>
          <a:xfrm>
            <a:off x="7132320" y="4343400"/>
            <a:ext cx="4251960" cy="1463040"/>
          </a:xfrm>
          <a:prstGeom prst="rect">
            <a:avLst/>
          </a:prstGeom>
          <a:noFill/>
          <a:ln/>
        </p:spPr>
        <p:txBody>
          <a:bodyPr wrap="square" lIns="0" tIns="0" rIns="0" bIns="0" rtlCol="0" anchor="t"/>
          <a:lstStyle/>
          <a:p>
            <a:pPr indent="0" marL="0">
              <a:buNone/>
            </a:pPr>
            <a:r>
              <a:rPr lang="en-US" sz="1350" dirty="0">
                <a:solidFill>
                  <a:srgbClr val="1B2733"/>
                </a:solidFill>
                <a:latin typeface="Calibri" pitchFamily="34" charset="0"/>
                <a:ea typeface="Calibri" pitchFamily="34" charset="-122"/>
                <a:cs typeface="Calibri" pitchFamily="34" charset="-120"/>
              </a:rPr>
              <a:t>The Deep ANN raises the fewest false alarms (26) but misses twice as many threats (83). For a security tool, the forest’s balance is preferable.</a:t>
            </a:r>
            <a:endParaRPr lang="en-US" sz="1350" dirty="0"/>
          </a:p>
        </p:txBody>
      </p:sp>
      <p:sp>
        <p:nvSpPr>
          <p:cNvPr id="14" name="Text 10"/>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100" i="1" dirty="0">
                <a:solidFill>
                  <a:srgbClr val="7A858E"/>
                </a:solidFill>
                <a:latin typeface="Calibri" pitchFamily="34" charset="0"/>
                <a:ea typeface="Calibri" pitchFamily="34" charset="-122"/>
                <a:cs typeface="Calibri" pitchFamily="34" charset="-120"/>
              </a:rPr>
              <a:t>Source: results/metrics.csv. Benchmark counts, not real-world error rates.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Is the forest really better? Statistical testing</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Group-bootstrap confidence intervals and exact McNemar tests on the same test rows</a:t>
            </a:r>
            <a:endParaRPr lang="en-US" sz="1600" dirty="0"/>
          </a:p>
        </p:txBody>
      </p:sp>
      <p:sp>
        <p:nvSpPr>
          <p:cNvPr id="4" name="Shape 2"/>
          <p:cNvSpPr/>
          <p:nvPr/>
        </p:nvSpPr>
        <p:spPr>
          <a:xfrm>
            <a:off x="10104120" y="384048"/>
            <a:ext cx="1554480" cy="384048"/>
          </a:xfrm>
          <a:prstGeom prst="roundRect">
            <a:avLst>
              <a:gd name="adj" fmla="val 50000"/>
            </a:avLst>
          </a:prstGeom>
          <a:solidFill>
            <a:srgbClr val="DCA84B"/>
          </a:solidFill>
          <a:ln/>
        </p:spPr>
      </p:sp>
      <p:sp>
        <p:nvSpPr>
          <p:cNvPr id="5" name="Text 3"/>
          <p:cNvSpPr txBox="1"/>
          <p:nvPr/>
        </p:nvSpPr>
        <p:spPr>
          <a:xfrm>
            <a:off x="10104120" y="384048"/>
            <a:ext cx="1554480" cy="384048"/>
          </a:xfrm>
          <a:prstGeom prst="rect">
            <a:avLst/>
          </a:prstGeom>
          <a:noFill/>
          <a:ln/>
        </p:spPr>
        <p:txBody>
          <a:bodyPr wrap="square" lIns="0" tIns="0" rIns="0" bIns="0" rtlCol="0" anchor="ctr"/>
          <a:lstStyle/>
          <a:p>
            <a:pPr algn="ctr" indent="0" marL="0">
              <a:buNone/>
            </a:pPr>
            <a:r>
              <a:rPr lang="en-US" sz="1200" b="1" dirty="0">
                <a:solidFill>
                  <a:srgbClr val="10213A"/>
                </a:solidFill>
                <a:latin typeface="Calibri" pitchFamily="34" charset="0"/>
                <a:ea typeface="Calibri" pitchFamily="34" charset="-122"/>
                <a:cs typeface="Calibri" pitchFamily="34" charset="-120"/>
              </a:rPr>
              <a:t>Presenter B</a:t>
            </a:r>
            <a:endParaRPr lang="en-US" sz="1200" dirty="0"/>
          </a:p>
        </p:txBody>
      </p:sp>
      <p:sp>
        <p:nvSpPr>
          <p:cNvPr id="6" name="Text 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680960" cy="914400"/>
        </p:xfrm>
        <a:graphic>
          <a:graphicData uri="http://schemas.openxmlformats.org/drawingml/2006/table">
            <a:tbl>
              <a:tblPr/>
              <a:tblGrid>
                <a:gridCol w="2194560"/>
                <a:gridCol w="1920240"/>
                <a:gridCol w="1188720"/>
                <a:gridCol w="1188720"/>
                <a:gridCol w="1188720"/>
              </a:tblGrid>
              <a:tr h="41148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Test F1 [95% CI]</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RF right, model wrong</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Model right, RF wrong</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Holm-adjusted p</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r>
              <a:tr h="411480">
                <a:tc>
                  <a:txBody>
                    <a:bodyPr/>
                    <a:lstStyle/>
                    <a:p>
                      <a:pPr indent="0" marL="0">
                        <a:buNone/>
                      </a:pPr>
                      <a:r>
                        <a:rPr lang="en-US" sz="1250" b="1" dirty="0">
                          <a:solidFill>
                            <a:srgbClr val="1B2733"/>
                          </a:solidFill>
                          <a:latin typeface="Calibri" pitchFamily="34" charset="0"/>
                          <a:ea typeface="Calibri" pitchFamily="34" charset="-122"/>
                          <a:cs typeface="Calibri" pitchFamily="34" charset="-120"/>
                        </a:rPr>
                        <a:t>Random Forest</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DF0EE"/>
                    </a:solidFill>
                  </a:tcPr>
                </a:tc>
                <a:tc>
                  <a:txBody>
                    <a:bodyPr/>
                    <a:lstStyle/>
                    <a:p>
                      <a:pPr indent="0" marL="0">
                        <a:buNone/>
                      </a:pPr>
                      <a:r>
                        <a:rPr lang="en-US" sz="1250" b="1" dirty="0">
                          <a:solidFill>
                            <a:srgbClr val="1B2733"/>
                          </a:solidFill>
                          <a:latin typeface="Calibri" pitchFamily="34" charset="0"/>
                          <a:ea typeface="Calibri" pitchFamily="34" charset="-122"/>
                          <a:cs typeface="Calibri" pitchFamily="34" charset="-120"/>
                        </a:rPr>
                        <a:t>95.91% [94.3–97.3]</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DF0EE"/>
                    </a:solidFill>
                  </a:tcPr>
                </a:tc>
                <a:tc>
                  <a:txBody>
                    <a:bodyPr/>
                    <a:lstStyle/>
                    <a:p>
                      <a:pPr indent="0" marL="0">
                        <a:buNone/>
                      </a:pPr>
                      <a:r>
                        <a:rPr lang="en-US" sz="1250" b="1" dirty="0">
                          <a:solidFill>
                            <a:srgbClr val="1B2733"/>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DF0EE"/>
                    </a:solidFill>
                  </a:tcPr>
                </a:tc>
                <a:tc>
                  <a:txBody>
                    <a:bodyPr/>
                    <a:lstStyle/>
                    <a:p>
                      <a:pPr indent="0" marL="0">
                        <a:buNone/>
                      </a:pPr>
                      <a:r>
                        <a:rPr lang="en-US" sz="1250" b="1" dirty="0">
                          <a:solidFill>
                            <a:srgbClr val="1B2733"/>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DF0EE"/>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reference</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DF0EE"/>
                    </a:solidFill>
                  </a:tcPr>
                </a:tc>
              </a:tr>
              <a:tr h="411480">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SVM (RBF)</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94.72% [92.8–96.5]</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43</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21</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8480"/>
                          </a:solidFill>
                          <a:latin typeface="Calibri" pitchFamily="34" charset="0"/>
                          <a:ea typeface="Calibri" pitchFamily="34" charset="-122"/>
                          <a:cs typeface="Calibri" pitchFamily="34" charset="-120"/>
                        </a:rPr>
                        <a:t>0.008</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411480">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Deep ANN (3 layers)</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94.27% [92.3–96.1]</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59</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8480"/>
                          </a:solidFill>
                          <a:latin typeface="Calibri" pitchFamily="34" charset="0"/>
                          <a:ea typeface="Calibri" pitchFamily="34" charset="-122"/>
                          <a:cs typeface="Calibri" pitchFamily="34" charset="-120"/>
                        </a:rPr>
                        <a:t>0.006</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411480">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Gradient Boosting</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94.21% [92.4–96.1]</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41</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8480"/>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411480">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Multilayer ANN</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93.57% [91.5–95.6]</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63</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19</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8480"/>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411480">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LSTM (bidirectional)</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93.03% [91.1–94.9]</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69</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14</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8480"/>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411480">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Decision Tree</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92.02% [89.7–94.1]</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81</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dirty="0">
                          <a:solidFill>
                            <a:srgbClr val="1B2733"/>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8480"/>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8686800" y="1645920"/>
            <a:ext cx="3017520" cy="731520"/>
          </a:xfrm>
          <a:prstGeom prst="rect">
            <a:avLst/>
          </a:prstGeom>
          <a:noFill/>
          <a:ln/>
        </p:spPr>
        <p:txBody>
          <a:bodyPr wrap="square" lIns="0" tIns="0" rIns="0" bIns="0" rtlCol="0" anchor="ctr"/>
          <a:lstStyle/>
          <a:p>
            <a:pPr indent="0" marL="0">
              <a:buNone/>
            </a:pPr>
            <a:r>
              <a:rPr lang="en-US" sz="4400" b="1" dirty="0">
                <a:solidFill>
                  <a:srgbClr val="0F8480"/>
                </a:solidFill>
                <a:latin typeface="Calibri" pitchFamily="34" charset="0"/>
                <a:ea typeface="Calibri" pitchFamily="34" charset="-122"/>
                <a:cs typeface="Calibri" pitchFamily="34" charset="-120"/>
              </a:rPr>
              <a:t>p &lt; 0.01</a:t>
            </a:r>
            <a:endParaRPr lang="en-US" sz="4400" dirty="0"/>
          </a:p>
        </p:txBody>
      </p:sp>
      <p:sp>
        <p:nvSpPr>
          <p:cNvPr id="9" name="Text 6"/>
          <p:cNvSpPr txBox="1"/>
          <p:nvPr/>
        </p:nvSpPr>
        <p:spPr>
          <a:xfrm>
            <a:off x="8686800" y="2377440"/>
            <a:ext cx="3017520" cy="5486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forest vs every other model, after Holm correction for 11 comparisons</a:t>
            </a:r>
            <a:endParaRPr lang="en-US" sz="1400" dirty="0"/>
          </a:p>
        </p:txBody>
      </p:sp>
      <p:sp>
        <p:nvSpPr>
          <p:cNvPr id="10" name="Text 7"/>
          <p:cNvSpPr txBox="1"/>
          <p:nvPr/>
        </p:nvSpPr>
        <p:spPr>
          <a:xfrm>
            <a:off x="8686800" y="3200400"/>
            <a:ext cx="3017520" cy="1463040"/>
          </a:xfrm>
          <a:prstGeom prst="rect">
            <a:avLst/>
          </a:prstGeom>
          <a:noFill/>
          <a:ln/>
        </p:spPr>
        <p:txBody>
          <a:bodyPr wrap="square" lIns="0" tIns="0" rIns="0" bIns="0" rtlCol="0" anchor="t"/>
          <a:lstStyle/>
          <a:p>
            <a:pPr indent="0" marL="0">
              <a:buNone/>
            </a:pPr>
            <a:r>
              <a:rPr lang="en-US" sz="1350" b="1" dirty="0">
                <a:solidFill>
                  <a:srgbClr val="1B2733"/>
                </a:solidFill>
                <a:latin typeface="Calibri" pitchFamily="34" charset="0"/>
                <a:ea typeface="Calibri" pitchFamily="34" charset="-122"/>
                <a:cs typeface="Calibri" pitchFamily="34" charset="-120"/>
              </a:rPr>
              <a:t>How to read it: </a:t>
            </a:r>
            <a:pPr indent="0" marL="0">
              <a:buNone/>
            </a:pPr>
            <a:r>
              <a:rPr lang="en-US" sz="1350" dirty="0">
                <a:solidFill>
                  <a:srgbClr val="1B2733"/>
                </a:solidFill>
                <a:latin typeface="Calibri" pitchFamily="34" charset="0"/>
                <a:ea typeface="Calibri" pitchFamily="34" charset="-122"/>
                <a:cs typeface="Calibri" pitchFamily="34" charset="-120"/>
              </a:rPr>
              <a:t>McNemar only looks at rows where the two models disagree. The forest wins most disagreements with each rival.</a:t>
            </a:r>
            <a:endParaRPr lang="en-US" sz="1350" dirty="0"/>
          </a:p>
        </p:txBody>
      </p:sp>
      <p:sp>
        <p:nvSpPr>
          <p:cNvPr id="11" name="Text 8"/>
          <p:cNvSpPr txBox="1"/>
          <p:nvPr/>
        </p:nvSpPr>
        <p:spPr>
          <a:xfrm>
            <a:off x="8686800" y="4754880"/>
            <a:ext cx="3017520" cy="1280160"/>
          </a:xfrm>
          <a:prstGeom prst="rect">
            <a:avLst/>
          </a:prstGeom>
          <a:noFill/>
          <a:ln/>
        </p:spPr>
        <p:txBody>
          <a:bodyPr wrap="square" lIns="0" tIns="0" rIns="0" bIns="0" rtlCol="0" anchor="t"/>
          <a:lstStyle/>
          <a:p>
            <a:pPr indent="0" marL="0">
              <a:buNone/>
            </a:pPr>
            <a:r>
              <a:rPr lang="en-US" sz="1300" dirty="0">
                <a:solidFill>
                  <a:srgbClr val="C0463C"/>
                </a:solidFill>
                <a:latin typeface="Calibri" pitchFamily="34" charset="0"/>
                <a:ea typeface="Calibri" pitchFamily="34" charset="-122"/>
                <a:cs typeface="Calibri" pitchFamily="34" charset="-120"/>
              </a:rPr>
              <a:t>Caveat: CIs overlap for close rivals, and repeated test rows are not fully independent. One split, one dataset.</a:t>
            </a:r>
            <a:endParaRPr lang="en-US" sz="1300" dirty="0"/>
          </a:p>
        </p:txBody>
      </p:sp>
      <p:sp>
        <p:nvSpPr>
          <p:cNvPr id="12" name="Text 9"/>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100" i="1" dirty="0">
                <a:solidFill>
                  <a:srgbClr val="7A858E"/>
                </a:solidFill>
                <a:latin typeface="Calibri" pitchFamily="34" charset="0"/>
                <a:ea typeface="Calibri" pitchFamily="34" charset="-122"/>
                <a:cs typeface="Calibri" pitchFamily="34" charset="-120"/>
              </a:rPr>
              <a:t>Source: results/significance_mcnemar.csv, deep_learning_mcnemar.csv; 1,000 bootstrap resamples of whole input-pattern groups (Dietterich, 1998).</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Deep learning: what we learned</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More layers and recurrent memory did not beat tree ensembles on these tabular inputs</a:t>
            </a:r>
            <a:endParaRPr lang="en-US" sz="1600" dirty="0"/>
          </a:p>
        </p:txBody>
      </p:sp>
      <p:sp>
        <p:nvSpPr>
          <p:cNvPr id="4" name="Shape 2"/>
          <p:cNvSpPr/>
          <p:nvPr/>
        </p:nvSpPr>
        <p:spPr>
          <a:xfrm>
            <a:off x="10104120" y="384048"/>
            <a:ext cx="1554480" cy="384048"/>
          </a:xfrm>
          <a:prstGeom prst="roundRect">
            <a:avLst>
              <a:gd name="adj" fmla="val 50000"/>
            </a:avLst>
          </a:prstGeom>
          <a:solidFill>
            <a:srgbClr val="DCA84B"/>
          </a:solidFill>
          <a:ln/>
        </p:spPr>
      </p:sp>
      <p:sp>
        <p:nvSpPr>
          <p:cNvPr id="5" name="Text 3"/>
          <p:cNvSpPr txBox="1"/>
          <p:nvPr/>
        </p:nvSpPr>
        <p:spPr>
          <a:xfrm>
            <a:off x="10104120" y="384048"/>
            <a:ext cx="1554480" cy="384048"/>
          </a:xfrm>
          <a:prstGeom prst="rect">
            <a:avLst/>
          </a:prstGeom>
          <a:noFill/>
          <a:ln/>
        </p:spPr>
        <p:txBody>
          <a:bodyPr wrap="square" lIns="0" tIns="0" rIns="0" bIns="0" rtlCol="0" anchor="ctr"/>
          <a:lstStyle/>
          <a:p>
            <a:pPr algn="ctr" indent="0" marL="0">
              <a:buNone/>
            </a:pPr>
            <a:r>
              <a:rPr lang="en-US" sz="1200" b="1" dirty="0">
                <a:solidFill>
                  <a:srgbClr val="10213A"/>
                </a:solidFill>
                <a:latin typeface="Calibri" pitchFamily="34" charset="0"/>
                <a:ea typeface="Calibri" pitchFamily="34" charset="-122"/>
                <a:cs typeface="Calibri" pitchFamily="34" charset="-120"/>
              </a:rPr>
              <a:t>Presenter B</a:t>
            </a:r>
            <a:endParaRPr lang="en-US" sz="1200" dirty="0"/>
          </a:p>
        </p:txBody>
      </p:sp>
      <p:sp>
        <p:nvSpPr>
          <p:cNvPr id="6" name="Text 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15</a:t>
            </a:r>
            <a:endParaRPr lang="en-US" sz="1000" dirty="0"/>
          </a:p>
        </p:txBody>
      </p:sp>
      <p:graphicFrame>
        <p:nvGraphicFramePr>
          <p:cNvPr id="7" name="Chart 0" descr=""/>
          <p:cNvGraphicFramePr/>
          <p:nvPr/>
        </p:nvGraphicFramePr>
        <p:xfrm>
          <a:off x="457200" y="1554480"/>
          <a:ext cx="5852160" cy="45720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583680" y="1600200"/>
            <a:ext cx="5029200" cy="1417320"/>
          </a:xfrm>
          <a:prstGeom prst="roundRect">
            <a:avLst>
              <a:gd name="adj" fmla="val 5161"/>
            </a:avLst>
          </a:prstGeom>
          <a:solidFill>
            <a:srgbClr val="FFFFFF"/>
          </a:solidFill>
          <a:ln w="9525">
            <a:solidFill>
              <a:srgbClr val="D5DDE5"/>
            </a:solidFill>
            <a:prstDash val="solid"/>
          </a:ln>
        </p:spPr>
      </p:sp>
      <p:sp>
        <p:nvSpPr>
          <p:cNvPr id="9" name="Text 6"/>
          <p:cNvSpPr txBox="1"/>
          <p:nvPr/>
        </p:nvSpPr>
        <p:spPr>
          <a:xfrm>
            <a:off x="6812280" y="1709928"/>
            <a:ext cx="4572000" cy="365760"/>
          </a:xfrm>
          <a:prstGeom prst="rect">
            <a:avLst/>
          </a:prstGeom>
          <a:noFill/>
          <a:ln/>
        </p:spPr>
        <p:txBody>
          <a:bodyPr wrap="square" lIns="0" tIns="0" rIns="0" bIns="0" rtlCol="0" anchor="ctr"/>
          <a:lstStyle/>
          <a:p>
            <a:pPr indent="0" marL="0">
              <a:buNone/>
            </a:pPr>
            <a:r>
              <a:rPr lang="en-US" sz="1550" b="1" dirty="0">
                <a:solidFill>
                  <a:srgbClr val="C0463C"/>
                </a:solidFill>
                <a:latin typeface="Calibri" pitchFamily="34" charset="0"/>
                <a:ea typeface="Calibri" pitchFamily="34" charset="-122"/>
                <a:cs typeface="Calibri" pitchFamily="34" charset="-120"/>
              </a:rPr>
              <a:t>Converged, not under-trained</a:t>
            </a:r>
            <a:endParaRPr lang="en-US" sz="1550" dirty="0"/>
          </a:p>
        </p:txBody>
      </p:sp>
      <p:sp>
        <p:nvSpPr>
          <p:cNvPr id="10" name="Text 7"/>
          <p:cNvSpPr txBox="1"/>
          <p:nvPr/>
        </p:nvSpPr>
        <p:spPr>
          <a:xfrm>
            <a:off x="6812280" y="2057400"/>
            <a:ext cx="4617720" cy="91440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Training-loss curves flatten (results/ann_loss_curves.png, dl_loss_curves.png); early stopping on grouped validation folds chose the LSTM/RNN epochs.</a:t>
            </a:r>
            <a:endParaRPr lang="en-US" sz="1300" dirty="0"/>
          </a:p>
        </p:txBody>
      </p:sp>
      <p:sp>
        <p:nvSpPr>
          <p:cNvPr id="11" name="Shape 8"/>
          <p:cNvSpPr/>
          <p:nvPr/>
        </p:nvSpPr>
        <p:spPr>
          <a:xfrm>
            <a:off x="6583680" y="3172968"/>
            <a:ext cx="5029200" cy="1417320"/>
          </a:xfrm>
          <a:prstGeom prst="roundRect">
            <a:avLst>
              <a:gd name="adj" fmla="val 5161"/>
            </a:avLst>
          </a:prstGeom>
          <a:solidFill>
            <a:srgbClr val="FFFFFF"/>
          </a:solidFill>
          <a:ln w="9525">
            <a:solidFill>
              <a:srgbClr val="D5DDE5"/>
            </a:solidFill>
            <a:prstDash val="solid"/>
          </a:ln>
        </p:spPr>
      </p:sp>
      <p:sp>
        <p:nvSpPr>
          <p:cNvPr id="12" name="Text 9"/>
          <p:cNvSpPr txBox="1"/>
          <p:nvPr/>
        </p:nvSpPr>
        <p:spPr>
          <a:xfrm>
            <a:off x="6812280" y="3282696"/>
            <a:ext cx="4572000" cy="365760"/>
          </a:xfrm>
          <a:prstGeom prst="rect">
            <a:avLst/>
          </a:prstGeom>
          <a:noFill/>
          <a:ln/>
        </p:spPr>
        <p:txBody>
          <a:bodyPr wrap="square" lIns="0" tIns="0" rIns="0" bIns="0" rtlCol="0" anchor="ctr"/>
          <a:lstStyle/>
          <a:p>
            <a:pPr indent="0" marL="0">
              <a:buNone/>
            </a:pPr>
            <a:r>
              <a:rPr lang="en-US" sz="1550" b="1" dirty="0">
                <a:solidFill>
                  <a:srgbClr val="C0463C"/>
                </a:solidFill>
                <a:latin typeface="Calibri" pitchFamily="34" charset="0"/>
                <a:ea typeface="Calibri" pitchFamily="34" charset="-122"/>
                <a:cs typeface="Calibri" pitchFamily="34" charset="-120"/>
              </a:rPr>
              <a:t>Why no gain?</a:t>
            </a:r>
            <a:endParaRPr lang="en-US" sz="1550" dirty="0"/>
          </a:p>
        </p:txBody>
      </p:sp>
      <p:sp>
        <p:nvSpPr>
          <p:cNvPr id="13" name="Text 10"/>
          <p:cNvSpPr txBox="1"/>
          <p:nvPr/>
        </p:nvSpPr>
        <p:spPr>
          <a:xfrm>
            <a:off x="6812280" y="3630168"/>
            <a:ext cx="4617720" cy="91440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Only 30 categorical inputs with no natural order, so a sequence model has no temporal pattern to exploit. Trees capture threshold-like interactions directly.</a:t>
            </a:r>
            <a:endParaRPr lang="en-US" sz="1300" dirty="0"/>
          </a:p>
        </p:txBody>
      </p:sp>
      <p:sp>
        <p:nvSpPr>
          <p:cNvPr id="14" name="Shape 11"/>
          <p:cNvSpPr/>
          <p:nvPr/>
        </p:nvSpPr>
        <p:spPr>
          <a:xfrm>
            <a:off x="6583680" y="4745736"/>
            <a:ext cx="5029200" cy="1417320"/>
          </a:xfrm>
          <a:prstGeom prst="roundRect">
            <a:avLst>
              <a:gd name="adj" fmla="val 5161"/>
            </a:avLst>
          </a:prstGeom>
          <a:solidFill>
            <a:srgbClr val="FFFFFF"/>
          </a:solidFill>
          <a:ln w="9525">
            <a:solidFill>
              <a:srgbClr val="D5DDE5"/>
            </a:solidFill>
            <a:prstDash val="solid"/>
          </a:ln>
        </p:spPr>
      </p:sp>
      <p:sp>
        <p:nvSpPr>
          <p:cNvPr id="15" name="Text 12"/>
          <p:cNvSpPr txBox="1"/>
          <p:nvPr/>
        </p:nvSpPr>
        <p:spPr>
          <a:xfrm>
            <a:off x="6812280" y="4855464"/>
            <a:ext cx="4572000" cy="365760"/>
          </a:xfrm>
          <a:prstGeom prst="rect">
            <a:avLst/>
          </a:prstGeom>
          <a:noFill/>
          <a:ln/>
        </p:spPr>
        <p:txBody>
          <a:bodyPr wrap="square" lIns="0" tIns="0" rIns="0" bIns="0" rtlCol="0" anchor="ctr"/>
          <a:lstStyle/>
          <a:p>
            <a:pPr indent="0" marL="0">
              <a:buNone/>
            </a:pPr>
            <a:r>
              <a:rPr lang="en-US" sz="1550" b="1" dirty="0">
                <a:solidFill>
                  <a:srgbClr val="C0463C"/>
                </a:solidFill>
                <a:latin typeface="Calibri" pitchFamily="34" charset="0"/>
                <a:ea typeface="Calibri" pitchFamily="34" charset="-122"/>
                <a:cs typeface="Calibri" pitchFamily="34" charset="-120"/>
              </a:rPr>
              <a:t>Consistent with research</a:t>
            </a:r>
            <a:endParaRPr lang="en-US" sz="1550" dirty="0"/>
          </a:p>
        </p:txBody>
      </p:sp>
      <p:sp>
        <p:nvSpPr>
          <p:cNvPr id="16" name="Text 13"/>
          <p:cNvSpPr txBox="1"/>
          <p:nvPr/>
        </p:nvSpPr>
        <p:spPr>
          <a:xfrm>
            <a:off x="6812280" y="5202936"/>
            <a:ext cx="4617720" cy="91440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Tree ensembles often outperform deep networks on medium-sized tabular data (Grinsztajn et al., 2022).</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What drives the forest’s decisions?</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Permutation importance: drop in test F1 when one indicator is randomly shuffled</a:t>
            </a:r>
            <a:endParaRPr lang="en-US" sz="1600" dirty="0"/>
          </a:p>
        </p:txBody>
      </p:sp>
      <p:sp>
        <p:nvSpPr>
          <p:cNvPr id="4" name="Shape 2"/>
          <p:cNvSpPr/>
          <p:nvPr/>
        </p:nvSpPr>
        <p:spPr>
          <a:xfrm>
            <a:off x="10104120" y="384048"/>
            <a:ext cx="1554480" cy="384048"/>
          </a:xfrm>
          <a:prstGeom prst="roundRect">
            <a:avLst>
              <a:gd name="adj" fmla="val 50000"/>
            </a:avLst>
          </a:prstGeom>
          <a:solidFill>
            <a:srgbClr val="DCA84B"/>
          </a:solidFill>
          <a:ln/>
        </p:spPr>
      </p:sp>
      <p:sp>
        <p:nvSpPr>
          <p:cNvPr id="5" name="Text 3"/>
          <p:cNvSpPr txBox="1"/>
          <p:nvPr/>
        </p:nvSpPr>
        <p:spPr>
          <a:xfrm>
            <a:off x="10104120" y="384048"/>
            <a:ext cx="1554480" cy="384048"/>
          </a:xfrm>
          <a:prstGeom prst="rect">
            <a:avLst/>
          </a:prstGeom>
          <a:noFill/>
          <a:ln/>
        </p:spPr>
        <p:txBody>
          <a:bodyPr wrap="square" lIns="0" tIns="0" rIns="0" bIns="0" rtlCol="0" anchor="ctr"/>
          <a:lstStyle/>
          <a:p>
            <a:pPr algn="ctr" indent="0" marL="0">
              <a:buNone/>
            </a:pPr>
            <a:r>
              <a:rPr lang="en-US" sz="1200" b="1" dirty="0">
                <a:solidFill>
                  <a:srgbClr val="10213A"/>
                </a:solidFill>
                <a:latin typeface="Calibri" pitchFamily="34" charset="0"/>
                <a:ea typeface="Calibri" pitchFamily="34" charset="-122"/>
                <a:cs typeface="Calibri" pitchFamily="34" charset="-120"/>
              </a:rPr>
              <a:t>Presenter B</a:t>
            </a:r>
            <a:endParaRPr lang="en-US" sz="1200" dirty="0"/>
          </a:p>
        </p:txBody>
      </p:sp>
      <p:sp>
        <p:nvSpPr>
          <p:cNvPr id="6" name="Text 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16</a:t>
            </a:r>
            <a:endParaRPr lang="en-US" sz="1000" dirty="0"/>
          </a:p>
        </p:txBody>
      </p:sp>
      <p:graphicFrame>
        <p:nvGraphicFramePr>
          <p:cNvPr id="7" name="Chart 0" descr=""/>
          <p:cNvGraphicFramePr/>
          <p:nvPr/>
        </p:nvGraphicFramePr>
        <p:xfrm>
          <a:off x="457200" y="1508760"/>
          <a:ext cx="6309360" cy="47548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132320" y="1645920"/>
            <a:ext cx="4480560" cy="2011680"/>
          </a:xfrm>
          <a:prstGeom prst="roundRect">
            <a:avLst>
              <a:gd name="adj" fmla="val 3636"/>
            </a:avLst>
          </a:prstGeom>
          <a:solidFill>
            <a:srgbClr val="DDF0EE"/>
          </a:solidFill>
          <a:ln w="9525">
            <a:solidFill>
              <a:srgbClr val="D5DDE5"/>
            </a:solidFill>
            <a:prstDash val="solid"/>
          </a:ln>
        </p:spPr>
      </p:sp>
      <p:sp>
        <p:nvSpPr>
          <p:cNvPr id="9" name="Text 6"/>
          <p:cNvSpPr txBox="1"/>
          <p:nvPr/>
        </p:nvSpPr>
        <p:spPr>
          <a:xfrm>
            <a:off x="7360920" y="1783080"/>
            <a:ext cx="4069080" cy="1783080"/>
          </a:xfrm>
          <a:prstGeom prst="rect">
            <a:avLst/>
          </a:prstGeom>
          <a:noFill/>
          <a:ln/>
        </p:spPr>
        <p:txBody>
          <a:bodyPr wrap="square" lIns="0" tIns="0" rIns="0" bIns="0" rtlCol="0" anchor="t"/>
          <a:lstStyle/>
          <a:p>
            <a:pPr indent="0" marL="0">
              <a:buNone/>
            </a:pPr>
            <a:r>
              <a:rPr lang="en-US" sz="1400" b="1" dirty="0">
                <a:solidFill>
                  <a:srgbClr val="0F8480"/>
                </a:solidFill>
                <a:latin typeface="Calibri" pitchFamily="34" charset="0"/>
                <a:ea typeface="Calibri" pitchFamily="34" charset="-122"/>
                <a:cs typeface="Calibri" pitchFamily="34" charset="-120"/>
              </a:rPr>
              <a:t>Agrees with the EDA: </a:t>
            </a:r>
            <a:pPr indent="0" marL="0">
              <a:buNone/>
            </a:pPr>
            <a:r>
              <a:rPr lang="en-US" sz="1400" dirty="0">
                <a:solidFill>
                  <a:srgbClr val="1B2733"/>
                </a:solidFill>
                <a:latin typeface="Calibri" pitchFamily="34" charset="0"/>
                <a:ea typeface="Calibri" pitchFamily="34" charset="-122"/>
                <a:cs typeface="Calibri" pitchFamily="34" charset="-120"/>
              </a:rPr>
              <a:t>SSLfinal_State and URL_of_Anchor dominate, each costing over 11 F1 points when shuffled. Domain reputation (web_traffic, age_of_domain) also contributes.</a:t>
            </a:r>
            <a:endParaRPr lang="en-US" sz="1400" dirty="0"/>
          </a:p>
        </p:txBody>
      </p:sp>
      <p:sp>
        <p:nvSpPr>
          <p:cNvPr id="10" name="Text 7"/>
          <p:cNvSpPr txBox="1"/>
          <p:nvPr/>
        </p:nvSpPr>
        <p:spPr>
          <a:xfrm>
            <a:off x="7132320" y="3886200"/>
            <a:ext cx="4480560" cy="365760"/>
          </a:xfrm>
          <a:prstGeom prst="rect">
            <a:avLst/>
          </a:prstGeom>
          <a:noFill/>
          <a:ln/>
        </p:spPr>
        <p:txBody>
          <a:bodyPr wrap="square" lIns="0" tIns="0" rIns="0" bIns="0" rtlCol="0" anchor="ctr"/>
          <a:lstStyle/>
          <a:p>
            <a:pPr indent="0" marL="0">
              <a:buNone/>
            </a:pPr>
            <a:r>
              <a:rPr lang="en-US" sz="1500" b="1" dirty="0">
                <a:solidFill>
                  <a:srgbClr val="10213A"/>
                </a:solidFill>
                <a:latin typeface="Calibri" pitchFamily="34" charset="0"/>
                <a:ea typeface="Calibri" pitchFamily="34" charset="-122"/>
                <a:cs typeface="Calibri" pitchFamily="34" charset="-120"/>
              </a:rPr>
              <a:t>Feature-selection extension: top 10 features only</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132320" y="4343400"/>
          <a:ext cx="4480560" cy="914400"/>
        </p:xfrm>
        <a:graphic>
          <a:graphicData uri="http://schemas.openxmlformats.org/drawingml/2006/table">
            <a:tbl>
              <a:tblPr/>
              <a:tblGrid>
                <a:gridCol w="1463040"/>
                <a:gridCol w="1097280"/>
                <a:gridCol w="868680"/>
                <a:gridCol w="105156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Forest inputs</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Test F1</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Missed</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False alarms</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r>
              <a:tr h="365760">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All 30</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95.91%</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42</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38</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Top 10 (MI)</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93.50%</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51</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b="1" dirty="0">
                          <a:solidFill>
                            <a:srgbClr val="C0463C"/>
                          </a:solidFill>
                          <a:latin typeface="Calibri" pitchFamily="34" charset="0"/>
                          <a:ea typeface="Calibri" pitchFamily="34" charset="-122"/>
                          <a:cs typeface="Calibri" pitchFamily="34" charset="-120"/>
                        </a:rPr>
                        <a:t>78</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7132320" y="5532120"/>
            <a:ext cx="4480560" cy="64008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−2.40 F1 points and double the false alarms: the “weak” features still add useful signal.</a:t>
            </a:r>
            <a:endParaRPr lang="en-US" sz="1300" dirty="0"/>
          </a:p>
        </p:txBody>
      </p:sp>
      <p:sp>
        <p:nvSpPr>
          <p:cNvPr id="13" name="Text 9"/>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100" i="1" dirty="0">
                <a:solidFill>
                  <a:srgbClr val="7A858E"/>
                </a:solidFill>
                <a:latin typeface="Calibri" pitchFamily="34" charset="0"/>
                <a:ea typeface="Calibri" pitchFamily="34" charset="-122"/>
                <a:cs typeface="Calibri" pitchFamily="34" charset="-120"/>
              </a:rPr>
              <a:t>Source: results/permutation_importance.csv, selection.json. Importance shows association, not causation.</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0213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Conclusion, limitations and future work</a:t>
            </a:r>
            <a:endParaRPr lang="en-US" sz="3200" dirty="0"/>
          </a:p>
        </p:txBody>
      </p:sp>
      <p:sp>
        <p:nvSpPr>
          <p:cNvPr id="3" name="Shape 1"/>
          <p:cNvSpPr/>
          <p:nvPr/>
        </p:nvSpPr>
        <p:spPr>
          <a:xfrm>
            <a:off x="10104120" y="384048"/>
            <a:ext cx="1554480" cy="384048"/>
          </a:xfrm>
          <a:prstGeom prst="roundRect">
            <a:avLst>
              <a:gd name="adj" fmla="val 50000"/>
            </a:avLst>
          </a:prstGeom>
          <a:solidFill>
            <a:srgbClr val="DCA84B"/>
          </a:solidFill>
          <a:ln/>
        </p:spPr>
      </p:sp>
      <p:sp>
        <p:nvSpPr>
          <p:cNvPr id="4" name="Text 2"/>
          <p:cNvSpPr txBox="1"/>
          <p:nvPr/>
        </p:nvSpPr>
        <p:spPr>
          <a:xfrm>
            <a:off x="10104120" y="384048"/>
            <a:ext cx="1554480" cy="384048"/>
          </a:xfrm>
          <a:prstGeom prst="rect">
            <a:avLst/>
          </a:prstGeom>
          <a:noFill/>
          <a:ln/>
        </p:spPr>
        <p:txBody>
          <a:bodyPr wrap="square" lIns="0" tIns="0" rIns="0" bIns="0" rtlCol="0" anchor="ctr"/>
          <a:lstStyle/>
          <a:p>
            <a:pPr algn="ctr" indent="0" marL="0">
              <a:buNone/>
            </a:pPr>
            <a:r>
              <a:rPr lang="en-US" sz="1200" b="1" dirty="0">
                <a:solidFill>
                  <a:srgbClr val="10213A"/>
                </a:solidFill>
                <a:latin typeface="Calibri" pitchFamily="34" charset="0"/>
                <a:ea typeface="Calibri" pitchFamily="34" charset="-122"/>
                <a:cs typeface="Calibri" pitchFamily="34" charset="-120"/>
              </a:rPr>
              <a:t>Presenter B</a:t>
            </a:r>
            <a:endParaRPr lang="en-US" sz="1200" dirty="0"/>
          </a:p>
        </p:txBody>
      </p:sp>
      <p:sp>
        <p:nvSpPr>
          <p:cNvPr id="5" name="Text 3"/>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FA3B5"/>
                </a:solidFill>
                <a:latin typeface="Calibri" pitchFamily="34" charset="0"/>
                <a:ea typeface="Calibri" pitchFamily="34" charset="-122"/>
                <a:cs typeface="Calibri" pitchFamily="34" charset="-120"/>
              </a:rPr>
              <a:t>17</a:t>
            </a:r>
            <a:endParaRPr lang="en-US" sz="1000" dirty="0"/>
          </a:p>
        </p:txBody>
      </p:sp>
      <p:sp>
        <p:nvSpPr>
          <p:cNvPr id="6" name="Text 4"/>
          <p:cNvSpPr txBox="1"/>
          <p:nvPr/>
        </p:nvSpPr>
        <p:spPr>
          <a:xfrm>
            <a:off x="548640" y="1234440"/>
            <a:ext cx="3840480" cy="1005840"/>
          </a:xfrm>
          <a:prstGeom prst="rect">
            <a:avLst/>
          </a:prstGeom>
          <a:noFill/>
          <a:ln/>
        </p:spPr>
        <p:txBody>
          <a:bodyPr wrap="square" lIns="0" tIns="0" rIns="0" bIns="0" rtlCol="0" anchor="ctr"/>
          <a:lstStyle/>
          <a:p>
            <a:pPr indent="0" marL="0">
              <a:buNone/>
            </a:pPr>
            <a:r>
              <a:rPr lang="en-US" sz="6000" b="1" dirty="0">
                <a:solidFill>
                  <a:srgbClr val="5FD3C6"/>
                </a:solidFill>
                <a:latin typeface="Calibri" pitchFamily="34" charset="0"/>
                <a:ea typeface="Calibri" pitchFamily="34" charset="-122"/>
                <a:cs typeface="Calibri" pitchFamily="34" charset="-120"/>
              </a:rPr>
              <a:t>95.91%</a:t>
            </a:r>
            <a:endParaRPr lang="en-US" sz="6000" dirty="0"/>
          </a:p>
        </p:txBody>
      </p:sp>
      <p:sp>
        <p:nvSpPr>
          <p:cNvPr id="7" name="Text 5"/>
          <p:cNvSpPr txBox="1"/>
          <p:nvPr/>
        </p:nvSpPr>
        <p:spPr>
          <a:xfrm>
            <a:off x="548640" y="2240280"/>
            <a:ext cx="3840480" cy="7315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test phishing F1 · Random Forest</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96.38% accuracy · AUC 0.993</a:t>
            </a:r>
            <a:endParaRPr lang="en-US" sz="1600" dirty="0"/>
          </a:p>
        </p:txBody>
      </p:sp>
      <p:sp>
        <p:nvSpPr>
          <p:cNvPr id="8" name="Text 6"/>
          <p:cNvSpPr txBox="1"/>
          <p:nvPr/>
        </p:nvSpPr>
        <p:spPr>
          <a:xfrm>
            <a:off x="548640" y="3291840"/>
            <a:ext cx="3566160" cy="411480"/>
          </a:xfrm>
          <a:prstGeom prst="rect">
            <a:avLst/>
          </a:prstGeom>
          <a:noFill/>
          <a:ln/>
        </p:spPr>
        <p:txBody>
          <a:bodyPr wrap="square" lIns="0" tIns="0" rIns="0" bIns="0" rtlCol="0" anchor="ctr"/>
          <a:lstStyle/>
          <a:p>
            <a:pPr indent="0" marL="0">
              <a:buNone/>
            </a:pPr>
            <a:r>
              <a:rPr lang="en-US" sz="1800" b="1" dirty="0">
                <a:solidFill>
                  <a:srgbClr val="5FD3C6"/>
                </a:solidFill>
                <a:latin typeface="Calibri" pitchFamily="34" charset="0"/>
                <a:ea typeface="Calibri" pitchFamily="34" charset="-122"/>
                <a:cs typeface="Calibri" pitchFamily="34" charset="-120"/>
              </a:rPr>
              <a:t>What we found</a:t>
            </a:r>
            <a:endParaRPr lang="en-US" sz="1800" dirty="0"/>
          </a:p>
        </p:txBody>
      </p:sp>
      <p:sp>
        <p:nvSpPr>
          <p:cNvPr id="9" name="Text 7"/>
          <p:cNvSpPr txBox="1"/>
          <p:nvPr/>
        </p:nvSpPr>
        <p:spPr>
          <a:xfrm>
            <a:off x="548640" y="3794760"/>
            <a:ext cx="356616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3EAF1"/>
                </a:solidFill>
                <a:latin typeface="Calibri" pitchFamily="34" charset="0"/>
                <a:ea typeface="Calibri" pitchFamily="34" charset="-122"/>
                <a:cs typeface="Calibri" pitchFamily="34" charset="-120"/>
              </a:rPr>
              <a:t>Random Forest won in CV and on the test set, significantly ahead of all 10 rivals</a:t>
            </a:r>
            <a:endParaRPr lang="en-US" sz="1400" dirty="0"/>
          </a:p>
          <a:p>
            <a:pPr marL="342900" indent="-342900">
              <a:spcAft>
                <a:spcPts val="800"/>
              </a:spcAft>
              <a:buSzPct val="100000"/>
              <a:buChar char="•"/>
            </a:pPr>
            <a:r>
              <a:rPr lang="en-US" sz="1400" dirty="0">
                <a:solidFill>
                  <a:srgbClr val="E3EAF1"/>
                </a:solidFill>
                <a:latin typeface="Calibri" pitchFamily="34" charset="0"/>
                <a:ea typeface="Calibri" pitchFamily="34" charset="-122"/>
                <a:cs typeface="Calibri" pitchFamily="34" charset="-120"/>
              </a:rPr>
              <a:t>Deeper ANN, LSTM and RNN did not beat trees on tabular data</a:t>
            </a:r>
            <a:endParaRPr lang="en-US" sz="1400" dirty="0"/>
          </a:p>
          <a:p>
            <a:pPr marL="342900" indent="-342900">
              <a:spcAft>
                <a:spcPts val="800"/>
              </a:spcAft>
              <a:buSzPct val="100000"/>
              <a:buChar char="•"/>
            </a:pPr>
            <a:r>
              <a:rPr lang="en-US" sz="1400" dirty="0">
                <a:solidFill>
                  <a:srgbClr val="E3EAF1"/>
                </a:solidFill>
                <a:latin typeface="Calibri" pitchFamily="34" charset="0"/>
                <a:ea typeface="Calibri" pitchFamily="34" charset="-122"/>
                <a:cs typeface="Calibri" pitchFamily="34" charset="-120"/>
              </a:rPr>
              <a:t>Two indicators drive most decisions, but all 30 add value</a:t>
            </a:r>
            <a:endParaRPr lang="en-US" sz="1400" dirty="0"/>
          </a:p>
        </p:txBody>
      </p:sp>
      <p:sp>
        <p:nvSpPr>
          <p:cNvPr id="10" name="Text 8"/>
          <p:cNvSpPr txBox="1"/>
          <p:nvPr/>
        </p:nvSpPr>
        <p:spPr>
          <a:xfrm>
            <a:off x="4343400" y="3291840"/>
            <a:ext cx="3566160" cy="411480"/>
          </a:xfrm>
          <a:prstGeom prst="rect">
            <a:avLst/>
          </a:prstGeom>
          <a:noFill/>
          <a:ln/>
        </p:spPr>
        <p:txBody>
          <a:bodyPr wrap="square" lIns="0" tIns="0" rIns="0" bIns="0" rtlCol="0" anchor="ctr"/>
          <a:lstStyle/>
          <a:p>
            <a:pPr indent="0" marL="0">
              <a:buNone/>
            </a:pPr>
            <a:r>
              <a:rPr lang="en-US" sz="1800" b="1" dirty="0">
                <a:solidFill>
                  <a:srgbClr val="F2A39B"/>
                </a:solidFill>
                <a:latin typeface="Calibri" pitchFamily="34" charset="0"/>
                <a:ea typeface="Calibri" pitchFamily="34" charset="-122"/>
                <a:cs typeface="Calibri" pitchFamily="34" charset="-120"/>
              </a:rPr>
              <a:t>Limitations</a:t>
            </a:r>
            <a:endParaRPr lang="en-US" sz="1800" dirty="0"/>
          </a:p>
        </p:txBody>
      </p:sp>
      <p:sp>
        <p:nvSpPr>
          <p:cNvPr id="11" name="Text 9"/>
          <p:cNvSpPr txBox="1"/>
          <p:nvPr/>
        </p:nvSpPr>
        <p:spPr>
          <a:xfrm>
            <a:off x="4343400" y="3794760"/>
            <a:ext cx="356616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3EAF1"/>
                </a:solidFill>
                <a:latin typeface="Calibri" pitchFamily="34" charset="0"/>
                <a:ea typeface="Calibri" pitchFamily="34" charset="-122"/>
                <a:cs typeface="Calibri" pitchFamily="34" charset="-120"/>
              </a:rPr>
              <a:t>Historical 2015 data with pre-extracted features</a:t>
            </a:r>
            <a:endParaRPr lang="en-US" sz="1400" dirty="0"/>
          </a:p>
          <a:p>
            <a:pPr marL="342900" indent="-342900">
              <a:spcAft>
                <a:spcPts val="800"/>
              </a:spcAft>
              <a:buSzPct val="100000"/>
              <a:buChar char="•"/>
            </a:pPr>
            <a:r>
              <a:rPr lang="en-US" sz="1400" dirty="0">
                <a:solidFill>
                  <a:srgbClr val="E3EAF1"/>
                </a:solidFill>
                <a:latin typeface="Calibri" pitchFamily="34" charset="0"/>
                <a:ea typeface="Calibri" pitchFamily="34" charset="-122"/>
                <a:cs typeface="Calibri" pitchFamily="34" charset="-120"/>
              </a:rPr>
              <a:t>No domain or time separation possible</a:t>
            </a:r>
            <a:endParaRPr lang="en-US" sz="1400" dirty="0"/>
          </a:p>
          <a:p>
            <a:pPr marL="342900" indent="-342900">
              <a:spcAft>
                <a:spcPts val="800"/>
              </a:spcAft>
              <a:buSzPct val="100000"/>
              <a:buChar char="•"/>
            </a:pPr>
            <a:r>
              <a:rPr lang="en-US" sz="1400" dirty="0">
                <a:solidFill>
                  <a:srgbClr val="E3EAF1"/>
                </a:solidFill>
                <a:latin typeface="Calibri" pitchFamily="34" charset="0"/>
                <a:ea typeface="Calibri" pitchFamily="34" charset="-122"/>
                <a:cs typeface="Calibri" pitchFamily="34" charset="-120"/>
              </a:rPr>
              <a:t>One outer split; modest tuning grids</a:t>
            </a:r>
            <a:endParaRPr lang="en-US" sz="1400" dirty="0"/>
          </a:p>
        </p:txBody>
      </p:sp>
      <p:sp>
        <p:nvSpPr>
          <p:cNvPr id="12" name="Text 10"/>
          <p:cNvSpPr txBox="1"/>
          <p:nvPr/>
        </p:nvSpPr>
        <p:spPr>
          <a:xfrm>
            <a:off x="8138160" y="3291840"/>
            <a:ext cx="3566160" cy="411480"/>
          </a:xfrm>
          <a:prstGeom prst="rect">
            <a:avLst/>
          </a:prstGeom>
          <a:noFill/>
          <a:ln/>
        </p:spPr>
        <p:txBody>
          <a:bodyPr wrap="square" lIns="0" tIns="0" rIns="0" bIns="0" rtlCol="0" anchor="ctr"/>
          <a:lstStyle/>
          <a:p>
            <a:pPr indent="0" marL="0">
              <a:buNone/>
            </a:pPr>
            <a:r>
              <a:rPr lang="en-US" sz="1800" b="1" dirty="0">
                <a:solidFill>
                  <a:srgbClr val="DCA84B"/>
                </a:solidFill>
                <a:latin typeface="Calibri" pitchFamily="34" charset="0"/>
                <a:ea typeface="Calibri" pitchFamily="34" charset="-122"/>
                <a:cs typeface="Calibri" pitchFamily="34" charset="-120"/>
              </a:rPr>
              <a:t>Future work</a:t>
            </a:r>
            <a:endParaRPr lang="en-US" sz="1800" dirty="0"/>
          </a:p>
        </p:txBody>
      </p:sp>
      <p:sp>
        <p:nvSpPr>
          <p:cNvPr id="13" name="Text 11"/>
          <p:cNvSpPr txBox="1"/>
          <p:nvPr/>
        </p:nvSpPr>
        <p:spPr>
          <a:xfrm>
            <a:off x="8138160" y="3794760"/>
            <a:ext cx="356616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3EAF1"/>
                </a:solidFill>
                <a:latin typeface="Calibri" pitchFamily="34" charset="0"/>
                <a:ea typeface="Calibri" pitchFamily="34" charset="-122"/>
                <a:cs typeface="Calibri" pitchFamily="34" charset="-120"/>
              </a:rPr>
              <a:t>Test on recent, independent, time-separated data</a:t>
            </a:r>
            <a:endParaRPr lang="en-US" sz="1400" dirty="0"/>
          </a:p>
          <a:p>
            <a:pPr marL="342900" indent="-342900">
              <a:spcAft>
                <a:spcPts val="800"/>
              </a:spcAft>
              <a:buSzPct val="100000"/>
              <a:buChar char="•"/>
            </a:pPr>
            <a:r>
              <a:rPr lang="en-US" sz="1400" dirty="0">
                <a:solidFill>
                  <a:srgbClr val="E3EAF1"/>
                </a:solidFill>
                <a:latin typeface="Calibri" pitchFamily="34" charset="0"/>
                <a:ea typeface="Calibri" pitchFamily="34" charset="-122"/>
                <a:cs typeface="Calibri" pitchFamily="34" charset="-120"/>
              </a:rPr>
              <a:t>Tune a decision threshold using error costs</a:t>
            </a:r>
            <a:endParaRPr lang="en-US" sz="1400" dirty="0"/>
          </a:p>
          <a:p>
            <a:pPr marL="342900" indent="-342900">
              <a:spcAft>
                <a:spcPts val="800"/>
              </a:spcAft>
              <a:buSzPct val="100000"/>
              <a:buChar char="•"/>
            </a:pPr>
            <a:r>
              <a:rPr lang="en-US" sz="1400" dirty="0">
                <a:solidFill>
                  <a:srgbClr val="E3EAF1"/>
                </a:solidFill>
                <a:latin typeface="Calibri" pitchFamily="34" charset="0"/>
                <a:ea typeface="Calibri" pitchFamily="34" charset="-122"/>
                <a:cs typeface="Calibri" pitchFamily="34" charset="-120"/>
              </a:rPr>
              <a:t>Extract features live from URLs in a browser tool</a:t>
            </a:r>
            <a:endParaRPr lang="en-US" sz="1400" dirty="0"/>
          </a:p>
        </p:txBody>
      </p:sp>
      <p:sp>
        <p:nvSpPr>
          <p:cNvPr id="14" name="Text 12"/>
          <p:cNvSpPr txBox="1"/>
          <p:nvPr/>
        </p:nvSpPr>
        <p:spPr>
          <a:xfrm>
            <a:off x="4846320" y="1325880"/>
            <a:ext cx="6766560" cy="137160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Answer to our question: on this benchmark, a Random Forest separates phishing from legitimate websites most reliably, but it is not yet deployment-ready.</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References</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APA 7th edition</a:t>
            </a:r>
            <a:endParaRPr lang="en-US" sz="1600" dirty="0"/>
          </a:p>
        </p:txBody>
      </p:sp>
      <p:sp>
        <p:nvSpPr>
          <p:cNvPr id="4" name="Shape 2"/>
          <p:cNvSpPr/>
          <p:nvPr/>
        </p:nvSpPr>
        <p:spPr>
          <a:xfrm>
            <a:off x="10104120" y="384048"/>
            <a:ext cx="1554480" cy="384048"/>
          </a:xfrm>
          <a:prstGeom prst="roundRect">
            <a:avLst>
              <a:gd name="adj" fmla="val 50000"/>
            </a:avLst>
          </a:prstGeom>
          <a:solidFill>
            <a:srgbClr val="DCA84B"/>
          </a:solidFill>
          <a:ln/>
        </p:spPr>
      </p:sp>
      <p:sp>
        <p:nvSpPr>
          <p:cNvPr id="5" name="Text 3"/>
          <p:cNvSpPr txBox="1"/>
          <p:nvPr/>
        </p:nvSpPr>
        <p:spPr>
          <a:xfrm>
            <a:off x="10104120" y="384048"/>
            <a:ext cx="1554480" cy="384048"/>
          </a:xfrm>
          <a:prstGeom prst="rect">
            <a:avLst/>
          </a:prstGeom>
          <a:noFill/>
          <a:ln/>
        </p:spPr>
        <p:txBody>
          <a:bodyPr wrap="square" lIns="0" tIns="0" rIns="0" bIns="0" rtlCol="0" anchor="ctr"/>
          <a:lstStyle/>
          <a:p>
            <a:pPr algn="ctr" indent="0" marL="0">
              <a:buNone/>
            </a:pPr>
            <a:r>
              <a:rPr lang="en-US" sz="1200" b="1" dirty="0">
                <a:solidFill>
                  <a:srgbClr val="10213A"/>
                </a:solidFill>
                <a:latin typeface="Calibri" pitchFamily="34" charset="0"/>
                <a:ea typeface="Calibri" pitchFamily="34" charset="-122"/>
                <a:cs typeface="Calibri" pitchFamily="34" charset="-120"/>
              </a:rPr>
              <a:t>Presenter B</a:t>
            </a:r>
            <a:endParaRPr lang="en-US" sz="1200" dirty="0"/>
          </a:p>
        </p:txBody>
      </p:sp>
      <p:sp>
        <p:nvSpPr>
          <p:cNvPr id="6" name="Text 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18</a:t>
            </a:r>
            <a:endParaRPr lang="en-US" sz="1000" dirty="0"/>
          </a:p>
        </p:txBody>
      </p:sp>
      <p:sp>
        <p:nvSpPr>
          <p:cNvPr id="7" name="Text 5"/>
          <p:cNvSpPr txBox="1"/>
          <p:nvPr/>
        </p:nvSpPr>
        <p:spPr>
          <a:xfrm>
            <a:off x="548640" y="1508760"/>
            <a:ext cx="11064240" cy="4754880"/>
          </a:xfrm>
          <a:prstGeom prst="rect">
            <a:avLst/>
          </a:prstGeom>
          <a:noFill/>
          <a:ln/>
        </p:spPr>
        <p:txBody>
          <a:bodyPr wrap="square" lIns="0" tIns="0" rIns="0" bIns="0" rtlCol="0" anchor="t"/>
          <a:lstStyle/>
          <a:p>
            <a:pPr indent="0" marL="0">
              <a:spcAft>
                <a:spcPts val="500"/>
              </a:spcAft>
              <a:buNone/>
            </a:pPr>
            <a:r>
              <a:rPr lang="en-US" sz="1150" dirty="0">
                <a:solidFill>
                  <a:srgbClr val="1B2733"/>
                </a:solidFill>
                <a:latin typeface="Calibri" pitchFamily="34" charset="0"/>
                <a:ea typeface="Calibri" pitchFamily="34" charset="-122"/>
                <a:cs typeface="Calibri" pitchFamily="34" charset="-120"/>
              </a:rPr>
              <a:t>Anti-Phishing Working Group. (2026, February 18). Phishing activity trends report: 4th quarter 2025. https://docs.apwg.org/reports/apwg_trends_report_q4_2025.pdf</a:t>
            </a:r>
            <a:endParaRPr lang="en-US" sz="1150" dirty="0"/>
          </a:p>
          <a:p>
            <a:pPr indent="0" marL="0">
              <a:spcAft>
                <a:spcPts val="500"/>
              </a:spcAft>
              <a:buNone/>
            </a:pPr>
            <a:r>
              <a:rPr lang="en-US" sz="1150" dirty="0">
                <a:solidFill>
                  <a:srgbClr val="1B2733"/>
                </a:solidFill>
                <a:latin typeface="Calibri" pitchFamily="34" charset="0"/>
                <a:ea typeface="Calibri" pitchFamily="34" charset="-122"/>
                <a:cs typeface="Calibri" pitchFamily="34" charset="-120"/>
              </a:rPr>
              <a:t>Breiman, L. (2001). Random forests. Machine Learning, 45(1), 5–32. https://doi.org/10.1023/A:1010933404324</a:t>
            </a:r>
            <a:endParaRPr lang="en-US" sz="1150" dirty="0"/>
          </a:p>
          <a:p>
            <a:pPr indent="0" marL="0">
              <a:spcAft>
                <a:spcPts val="500"/>
              </a:spcAft>
              <a:buNone/>
            </a:pPr>
            <a:r>
              <a:rPr lang="en-US" sz="1150" dirty="0">
                <a:solidFill>
                  <a:srgbClr val="1B2733"/>
                </a:solidFill>
                <a:latin typeface="Calibri" pitchFamily="34" charset="0"/>
                <a:ea typeface="Calibri" pitchFamily="34" charset="-122"/>
                <a:cs typeface="Calibri" pitchFamily="34" charset="-120"/>
              </a:rPr>
              <a:t>Dietterich, T. G. (1998). Approximate statistical tests for comparing supervised classification learning algorithms. Neural Computation, 10(7), 1895–1923. https://doi.org/10.1162/089976698300017197</a:t>
            </a:r>
            <a:endParaRPr lang="en-US" sz="1150" dirty="0"/>
          </a:p>
          <a:p>
            <a:pPr indent="0" marL="0">
              <a:spcAft>
                <a:spcPts val="500"/>
              </a:spcAft>
              <a:buNone/>
            </a:pPr>
            <a:r>
              <a:rPr lang="en-US" sz="1150" dirty="0">
                <a:solidFill>
                  <a:srgbClr val="1B2733"/>
                </a:solidFill>
                <a:latin typeface="Calibri" pitchFamily="34" charset="0"/>
                <a:ea typeface="Calibri" pitchFamily="34" charset="-122"/>
                <a:cs typeface="Calibri" pitchFamily="34" charset="-120"/>
              </a:rPr>
              <a:t>Grinsztajn, L., Oyallon, E., &amp; Varoquaux, G. (2022). Why do tree-based models still outperform deep learning on typical tabular data? Advances in Neural Information Processing Systems, 35, 507–520.</a:t>
            </a:r>
            <a:endParaRPr lang="en-US" sz="1150" dirty="0"/>
          </a:p>
          <a:p>
            <a:pPr indent="0" marL="0">
              <a:spcAft>
                <a:spcPts val="500"/>
              </a:spcAft>
              <a:buNone/>
            </a:pPr>
            <a:r>
              <a:rPr lang="en-US" sz="1150" dirty="0">
                <a:solidFill>
                  <a:srgbClr val="1B2733"/>
                </a:solidFill>
                <a:latin typeface="Calibri" pitchFamily="34" charset="0"/>
                <a:ea typeface="Calibri" pitchFamily="34" charset="-122"/>
                <a:cs typeface="Calibri" pitchFamily="34" charset="-120"/>
              </a:rPr>
              <a:t>Hochreiter, S., &amp; Schmidhuber, J. (1997). Long short-term memory. Neural Computation, 9(8), 1735–1780. https://doi.org/10.1162/neco.1997.9.8.1735</a:t>
            </a:r>
            <a:endParaRPr lang="en-US" sz="1150" dirty="0"/>
          </a:p>
          <a:p>
            <a:pPr indent="0" marL="0">
              <a:spcAft>
                <a:spcPts val="500"/>
              </a:spcAft>
              <a:buNone/>
            </a:pPr>
            <a:r>
              <a:rPr lang="en-US" sz="1150" dirty="0">
                <a:solidFill>
                  <a:srgbClr val="1B2733"/>
                </a:solidFill>
                <a:latin typeface="Calibri" pitchFamily="34" charset="0"/>
                <a:ea typeface="Calibri" pitchFamily="34" charset="-122"/>
                <a:cs typeface="Calibri" pitchFamily="34" charset="-120"/>
              </a:rPr>
              <a:t>Kaufman, S., Rosset, S., Perlich, C., &amp; Stitelman, O. (2012). Leakage in data mining: Formulation, detection, and avoidance. ACM Transactions on Knowledge Discovery from Data, 6(4), Article 15. https://doi.org/10.1145/2382577.2382579</a:t>
            </a:r>
            <a:endParaRPr lang="en-US" sz="1150" dirty="0"/>
          </a:p>
          <a:p>
            <a:pPr indent="0" marL="0">
              <a:spcAft>
                <a:spcPts val="500"/>
              </a:spcAft>
              <a:buNone/>
            </a:pPr>
            <a:r>
              <a:rPr lang="en-US" sz="1150" dirty="0">
                <a:solidFill>
                  <a:srgbClr val="1B2733"/>
                </a:solidFill>
                <a:latin typeface="Calibri" pitchFamily="34" charset="0"/>
                <a:ea typeface="Calibri" pitchFamily="34" charset="-122"/>
                <a:cs typeface="Calibri" pitchFamily="34" charset="-120"/>
              </a:rPr>
              <a:t>Mohammad, R., &amp; McCluskey, L. (2012). Phishing websites [Data set]. UCI Machine Learning Repository. https://doi.org/10.24432/C51W2X</a:t>
            </a:r>
            <a:endParaRPr lang="en-US" sz="1150" dirty="0"/>
          </a:p>
          <a:p>
            <a:pPr indent="0" marL="0">
              <a:spcAft>
                <a:spcPts val="500"/>
              </a:spcAft>
              <a:buNone/>
            </a:pPr>
            <a:r>
              <a:rPr lang="en-US" sz="1150" dirty="0">
                <a:solidFill>
                  <a:srgbClr val="1B2733"/>
                </a:solidFill>
                <a:latin typeface="Calibri" pitchFamily="34" charset="0"/>
                <a:ea typeface="Calibri" pitchFamily="34" charset="-122"/>
                <a:cs typeface="Calibri" pitchFamily="34" charset="-120"/>
              </a:rPr>
              <a:t>Mohammad, R. M., Thabtah, F., &amp; McCluskey, L. (2014). Predicting phishing websites based on self-structuring neural network. Neural Computing and Applications, 25(2), 443–458. https://doi.org/10.1007/s00521-013-1490-z</a:t>
            </a:r>
            <a:endParaRPr lang="en-US" sz="1150" dirty="0"/>
          </a:p>
          <a:p>
            <a:pPr indent="0" marL="0">
              <a:spcAft>
                <a:spcPts val="500"/>
              </a:spcAft>
              <a:buNone/>
            </a:pPr>
            <a:r>
              <a:rPr lang="en-US" sz="1150" dirty="0">
                <a:solidFill>
                  <a:srgbClr val="1B2733"/>
                </a:solidFill>
                <a:latin typeface="Calibri" pitchFamily="34" charset="0"/>
                <a:ea typeface="Calibri" pitchFamily="34" charset="-122"/>
                <a:cs typeface="Calibri" pitchFamily="34" charset="-120"/>
              </a:rPr>
              <a:t>Paszke, A., Gross, S., Massa, F., Lerer, A., Bradbury, J., Chanan, G., … Chintala, S. (2019). PyTorch: An imperative style, high-performance deep learning library. Advances in Neural Information Processing Systems, 32, 8024–8035.</a:t>
            </a:r>
            <a:endParaRPr lang="en-US" sz="1150" dirty="0"/>
          </a:p>
          <a:p>
            <a:pPr indent="0" marL="0">
              <a:spcAft>
                <a:spcPts val="500"/>
              </a:spcAft>
              <a:buNone/>
            </a:pPr>
            <a:r>
              <a:rPr lang="en-US" sz="1150" dirty="0">
                <a:solidFill>
                  <a:srgbClr val="1B2733"/>
                </a:solidFill>
                <a:latin typeface="Calibri" pitchFamily="34" charset="0"/>
                <a:ea typeface="Calibri" pitchFamily="34" charset="-122"/>
                <a:cs typeface="Calibri" pitchFamily="34" charset="-120"/>
              </a:rPr>
              <a:t>Pedregosa, F., Varoquaux, G., Gramfort, A., Michel, V., Thirion, B., Grisel, O., … Duchesnay, É. (2011). Scikit-learn: Machine learning in Python. Journal of Machine Learning Research, 12, 2825–2830.</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Backup: hyperparameter search</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Small, explainable grids on identical grouped folds (not an equal-compute benchmark)</a:t>
            </a:r>
            <a:endParaRPr lang="en-US" sz="16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19</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194560"/>
                <a:gridCol w="4572000"/>
                <a:gridCol w="2651760"/>
                <a:gridCol w="1645920"/>
              </a:tblGrid>
              <a:tr h="39319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Search grid</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Selected</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CV F1</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r>
              <a:tr h="393192">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Decision Tree</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max depth 5 / none; min leaf 1 / 5</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none; leaf 5</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91.69%</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150 trees; depth 10 / none; leaf 1 / 3</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none; leaf 1</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94.58%</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Categorical NB</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alpha 0.1 / 1 / 10</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alpha 1</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91.76%</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Multilayer ANN</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(32, 16); L2 alpha 0.001 / 0.01</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alpha 0.01</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93.62%</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C 0.1 / 1 / 10</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C 10</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92.99%</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k-NN</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k 3 / 7 / 15; uniform / distance</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k 15, distance</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92.47%</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SVM (RBF)</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C 1 / 10</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C 10</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94.23%</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Gradient Boosting</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learning rate 0.05 / 0.1; leaves 15 / 31</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0.1; 31 leaves</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94.57%</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Deep ANN</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(128, 64, 32); alpha 0.001 / 0.01</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alpha 0.01</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94.28%</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BiLSTM / BiRNN</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embed 16, hidden 32, Adam 0.002; early stopping</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median epochs 23 / 14</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94.09% / 93.63%</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200" b="1" dirty="0">
                <a:solidFill>
                  <a:srgbClr val="10213A"/>
                </a:solidFill>
                <a:latin typeface="Calibri" pitchFamily="34" charset="0"/>
                <a:ea typeface="Calibri" pitchFamily="34" charset="-122"/>
                <a:cs typeface="Calibri" pitchFamily="34" charset="-120"/>
              </a:rPr>
              <a:t>Backup: metric formulas with the forest’s numbers</a:t>
            </a:r>
            <a:endParaRPr lang="en-US" sz="3200" dirty="0"/>
          </a:p>
        </p:txBody>
      </p:sp>
      <p:sp>
        <p:nvSpPr>
          <p:cNvPr id="3" name="Text 1"/>
          <p:cNvSpPr txBox="1"/>
          <p:nvPr/>
        </p:nvSpPr>
        <p:spPr>
          <a:xfrm>
            <a:off x="548640" y="987552"/>
            <a:ext cx="10515600" cy="41148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TP 937 · FP 38 · FN 42 · TN 1,193</a:t>
            </a:r>
            <a:endParaRPr lang="en-US" sz="16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8A96A0"/>
                </a:solidFill>
                <a:latin typeface="Calibri" pitchFamily="34" charset="0"/>
                <a:ea typeface="Calibri" pitchFamily="34" charset="-122"/>
                <a:cs typeface="Calibri" pitchFamily="34" charset="-120"/>
              </a:rPr>
              <a:t>20</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645920"/>
                <a:gridCol w="4206240"/>
                <a:gridCol w="1371600"/>
                <a:gridCol w="3840480"/>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Formula</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Value</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Plain meaning</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0213A"/>
                    </a:solidFill>
                  </a:tcPr>
                </a:tc>
              </a:tr>
              <a:tr h="548640">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(TP + TN) / all = (937 + 1,193) / 2,210</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96.38%</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Share of all labels correct</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Precision</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TP / (TP + FP) = 937 / 975</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96.10%</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How trustworthy an alert is</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Recall</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TP / (TP + FN) = 937 / 979</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95.71%</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Share of phishing caught</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F1</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2TP / (2TP + FP + FN)</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95.91%</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Harmonic mean of precision and recall</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ROC AUC</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Area under TPR vs FPR curve</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0.993</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Ranking quality across thresholds</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212080"/>
            <a:ext cx="11064240" cy="548640"/>
          </a:xfrm>
          <a:prstGeom prst="rect">
            <a:avLst/>
          </a:prstGeom>
          <a:noFill/>
          <a:ln/>
        </p:spPr>
        <p:txBody>
          <a:bodyPr wrap="square" lIns="0" tIns="0" rIns="0" bIns="0" rtlCol="0" anchor="ctr"/>
          <a:lstStyle/>
          <a:p>
            <a:pPr indent="0" marL="0">
              <a:buNone/>
            </a:pPr>
            <a:r>
              <a:rPr lang="en-US" sz="1400" b="1" dirty="0">
                <a:solidFill>
                  <a:srgbClr val="0F8480"/>
                </a:solidFill>
                <a:latin typeface="Calibri" pitchFamily="34" charset="0"/>
                <a:ea typeface="Calibri" pitchFamily="34" charset="-122"/>
                <a:cs typeface="Calibri" pitchFamily="34" charset="-120"/>
              </a:rPr>
              <a:t>Encoding reminder: −1 → [1,0,0], 0 → [0,1,0], +1 → [0,0,1] for one-hot models; −1/0/+1 → 0/1/2 for Naive Bayes and Gradient Boosting.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Website Detection - PRT565 Assessment 3</dc:title>
  <dc:subject>PptxGenJS Presentation</dc:subject>
  <dc:creator>PptxGenJS</dc:creator>
  <cp:lastModifiedBy>PptxGenJS</cp:lastModifiedBy>
  <cp:revision>1</cp:revision>
  <dcterms:created xsi:type="dcterms:W3CDTF">2026-09-25T02:16:57Z</dcterms:created>
  <dcterms:modified xsi:type="dcterms:W3CDTF">2026-09-25T02:16:57Z</dcterms:modified>
</cp:coreProperties>
</file>